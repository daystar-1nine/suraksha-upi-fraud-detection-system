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0:00 - 0:30]</a:t>
            </a:r>
          </a:p>
          <a:p>
            <a:r>
              <a:t>[WHAT TO SAY]: Judges, imagine you walk up to a busy retail counter. You scan the QR code, type ₹500, enter your UPI PIN, and hear the success chime. But two minutes later, the shopkeeper tells you he never received the money. Why? Because a scammer pasted a duplicate QR sticker right over the shop's original board. Or consider a small vendor who hands over ₹5,000 worth of goods because a customer flashes a doctored Google Pay confirmation screenshot. India processes billions of instant payments monthly, but fraud awareness takes hours. That is why we built Suraksha AI.</a:t>
            </a:r>
          </a:p>
          <a:p>
            <a:r>
              <a:t>[ACTION]: Stand center stage, confident posture, no slide notes in hand.</a:t>
            </a:r>
          </a:p>
          <a:p>
            <a:r>
              <a:t>[TRANSITION]: Let's look at the three critical fraud vectors plaguing our digital economy.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0:30 - 1:10]</a:t>
            </a:r>
          </a:p>
          <a:p>
            <a:r>
              <a:t>[WHAT TO SAY]: Digital payments are fast and seamless, but fraud tactics have evolved to exploit the human interface before bank settlement. Today's payment scams target users through three distinct vectors: physical QR sticker swapping, doctored confirmation screenshots, and social engineering phishing links. The core problem is that users lack real-time risk intelligence at the exact moment of payment.</a:t>
            </a:r>
          </a:p>
          <a:p>
            <a:r>
              <a:t>[ACTION]: Point to each of the 3 problem cards on the screen.</a:t>
            </a:r>
          </a:p>
          <a:p>
            <a:r>
              <a:t>[TRANSITION]: Why does this vulnerability exist in our current apps? That brings us to our core insight.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1:10 - 1:55]</a:t>
            </a:r>
          </a:p>
          <a:p>
            <a:r>
              <a:t>[WHAT TO SAY]: Current banking apps focus on authentication—verifying who is paying with a PIN. But they never inspect whether the payment context itself is fraudulent. The critical security gap exists in the 3 seconds before the PIN is entered. Suraksha AI fills this gap with a zero-trust pre-payment inspection layer. In under 200 milliseconds, we evaluate the QR payload, receipt image integrity, and message urgency to give users an explainable risk verdict before money is transferred.</a:t>
            </a:r>
          </a:p>
          <a:p>
            <a:r>
              <a:t>[ACTION]: Emphasize the contrast between reactive dispute forms and proactive pre-payment warnings.</a:t>
            </a:r>
          </a:p>
          <a:p>
            <a:r>
              <a:t>[TRANSITION]: Let's look at the core solution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1:55 - 2:15]</a:t>
            </a:r>
          </a:p>
          <a:p>
            <a:r>
              <a:t>[WHAT TO SAY]: Suraksha AI operates across four unified pillars: a live QR scanner, an in-memory image forensics engine, a sub-20ms NLP text validator, and a cryptographic QR generator for merchants. Our pipeline ingests the raw payload, sanitizes it in volatile RAM, runs parallel multi-signal evaluation, and produces an instant risk verdict. Let me show you this in action right 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2:15 - 3:15]</a:t>
            </a:r>
          </a:p>
          <a:p>
            <a:r>
              <a:t>[WHAT TO SAY]: [LIVE DEMO DEMONSTRATION / BACKUP WALKTHROUGH]</a:t>
            </a:r>
          </a:p>
          <a:p>
            <a:r>
              <a:t>1. First, we input a deceptive payment message offering cashback. In milliseconds, our NLP model flags urgency patterns and intent mismatches, calculating an 85% Critical Risk Score.</a:t>
            </a:r>
          </a:p>
          <a:p>
            <a:r>
              <a:t>2. Second, a vendor uploads a payment screenshot. Our OpenCV Error Level Analysis inspects pixel compression noise in RAM without saving any file to disk, instantly flagging spliced text overlay.</a:t>
            </a:r>
          </a:p>
          <a:p>
            <a:r>
              <a:t>3. Third, with one click, the entire UI translates dynamically into Hindi, ensuring vendors across India can understand the threat clearly.</a:t>
            </a:r>
          </a:p>
          <a:p>
            <a:r>
              <a:t>[ACTION]: Execute live scan on localhost or present the 3 high-res UI panels.</a:t>
            </a:r>
          </a:p>
          <a:p>
            <a:r>
              <a:t>[TRANSITION]: Let's look at the underlying technology that powers this engine.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3:15 - 3:50]</a:t>
            </a:r>
          </a:p>
          <a:p>
            <a:r>
              <a:t>[WHAT TO SAY]: Under the hood, Suraksha AI combines three lightweight, high-performance engines: OpenCV JPEG Error Level Analysis running in volatile RAM to protect privacy, HMAC SHA-256 cryptographic verification that validates merchant signatures to eliminate physical sticker swaps, and Multinomial Naive Bayes classification that parses conversational context in under 20 milliseconds. The entire evaluation pipeline executes with sub-200ms latency, delivering immediate protection on edge devices.</a:t>
            </a:r>
          </a:p>
          <a:p>
            <a:r>
              <a:t>[TRANSITION]: How does this compare to traditional market solutions?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3:50 - 4:15]</a:t>
            </a:r>
          </a:p>
          <a:p>
            <a:r>
              <a:t>[WHAT TO SAY]: Mainstream payment apps focus on transaction throughput; they do not perform receipt forensics or cryptographic QR sticker verification. Backend banking logs catch fraud hours after settlement. Suraksha AI is built specifically for pre-authorization interception with explainable risk indicators and zero-data retention privacy.</a:t>
            </a:r>
          </a:p>
          <a:p>
            <a:r>
              <a:t>[TRANSITION]: Now let's explore our commercialization strategy and market scalability.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4:15 - 4:40]</a:t>
            </a:r>
          </a:p>
          <a:p>
            <a:r>
              <a:t>[WHAT TO SAY]: Our business model scales across three layers: a freemium consumer mobile app, a ₹99/month merchant subscription providing verified tamper-proof QR stands and instant receipt verification, and enterprise B2B2C API licensing for fintech payment aggregators and digital wallets. This creates an expanding network effect where every reported scam strengthens the intelligence engine across all platforms.</a:t>
            </a:r>
          </a:p>
          <a:p>
            <a:r>
              <a:t>[TRANSITION]: Let's conclude with our core vision.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4:40 - 5:00]</a:t>
            </a:r>
          </a:p>
          <a:p>
            <a:r>
              <a:t>[WHAT TO SAY]: Judges, digital payments should not only be fast—they must be informed and secure. Our mission is simple: Don't discover the scam after you pay. Discover the risk before you pay. We have a working prototype and a clear roadmap to secure India's digital transactions. Thank you. We are Suraksha AI.</a:t>
            </a:r>
          </a:p>
          <a:p>
            <a:r>
              <a:t>[ACTION]: Step forward, deliver the final one-liner with conviction, and conclude.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bg.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731520"/>
            <a:ext cx="6675120" cy="5394960"/>
          </a:xfrm>
          <a:prstGeom prst="roundRect">
            <a:avLst/>
          </a:prstGeom>
          <a:solidFill>
            <a:srgbClr val="0F172A"/>
          </a:solidFill>
          <a:ln w="2286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1051560"/>
            <a:ext cx="5120640" cy="384048"/>
          </a:xfrm>
          <a:prstGeom prst="roundRect">
            <a:avLst/>
          </a:prstGeom>
          <a:solidFill>
            <a:srgbClr val="1E3A8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EUREKA! PITCH COMPETITION 2026 | SJCEM × IIT BOMBAY NEC</a:t>
            </a:r>
          </a:p>
        </p:txBody>
      </p:sp>
      <p:sp>
        <p:nvSpPr>
          <p:cNvPr id="5" name="TextBox 4"/>
          <p:cNvSpPr txBox="1"/>
          <p:nvPr/>
        </p:nvSpPr>
        <p:spPr>
          <a:xfrm>
            <a:off x="1097280" y="1600200"/>
            <a:ext cx="5943600" cy="1280160"/>
          </a:xfrm>
          <a:prstGeom prst="rect">
            <a:avLst/>
          </a:prstGeom>
          <a:noFill/>
        </p:spPr>
        <p:txBody>
          <a:bodyPr wrap="square">
            <a:spAutoFit/>
          </a:bodyPr>
          <a:lstStyle/>
          <a:p>
            <a:pPr>
              <a:defRPr sz="4400" b="1">
                <a:solidFill>
                  <a:srgbClr val="FFFFFF"/>
                </a:solidFill>
              </a:defRPr>
            </a:pPr>
            <a:r>
              <a:t>SURAKSHA AI</a:t>
            </a:r>
          </a:p>
          <a:p>
            <a:pPr>
              <a:defRPr sz="1650" b="1">
                <a:solidFill>
                  <a:srgbClr val="38BDF8"/>
                </a:solidFill>
              </a:defRPr>
            </a:pPr>
            <a:r>
              <a:t>Real-Time Payment Risk &amp; Fraud Intelligence Platform</a:t>
            </a:r>
          </a:p>
        </p:txBody>
      </p:sp>
      <p:sp>
        <p:nvSpPr>
          <p:cNvPr id="6" name="TextBox 5"/>
          <p:cNvSpPr txBox="1"/>
          <p:nvPr/>
        </p:nvSpPr>
        <p:spPr>
          <a:xfrm>
            <a:off x="1097280" y="3154680"/>
            <a:ext cx="5943600" cy="1371600"/>
          </a:xfrm>
          <a:prstGeom prst="rect">
            <a:avLst/>
          </a:prstGeom>
          <a:noFill/>
        </p:spPr>
        <p:txBody>
          <a:bodyPr wrap="square">
            <a:spAutoFit/>
          </a:bodyPr>
          <a:lstStyle/>
          <a:p>
            <a:pPr>
              <a:defRPr sz="1500" i="1">
                <a:solidFill>
                  <a:srgbClr val="E2E8F0"/>
                </a:solidFill>
              </a:defRPr>
            </a:pPr>
            <a:r>
              <a:t>"The payment is instant. The warning should be too."</a:t>
            </a:r>
          </a:p>
          <a:p>
            <a:pPr>
              <a:defRPr sz="1250">
                <a:solidFill>
                  <a:srgbClr val="94A3B8"/>
                </a:solidFill>
              </a:defRPr>
            </a:pPr>
            <a:r>
              <a:t>An intelligent, privacy-first security layer evaluating QR codes, UPI IDs, payment screenshots, and phishing links before money leaves your account.</a:t>
            </a:r>
          </a:p>
        </p:txBody>
      </p:sp>
      <p:sp>
        <p:nvSpPr>
          <p:cNvPr id="7" name="Rounded Rectangle 6"/>
          <p:cNvSpPr/>
          <p:nvPr/>
        </p:nvSpPr>
        <p:spPr>
          <a:xfrm>
            <a:off x="1097280" y="5303520"/>
            <a:ext cx="1874519" cy="384048"/>
          </a:xfrm>
          <a:prstGeom prst="roundRect">
            <a:avLst/>
          </a:prstGeom>
          <a:solidFill>
            <a:srgbClr val="0F172A"/>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0B981"/>
                </a:solidFill>
              </a:defRPr>
            </a:pPr>
            <a:r>
              <a:t>[FAST] &lt;200ms Execution</a:t>
            </a:r>
          </a:p>
        </p:txBody>
      </p:sp>
      <p:sp>
        <p:nvSpPr>
          <p:cNvPr id="8" name="Rounded Rectangle 7"/>
          <p:cNvSpPr/>
          <p:nvPr/>
        </p:nvSpPr>
        <p:spPr>
          <a:xfrm>
            <a:off x="3063239" y="5303520"/>
            <a:ext cx="1874519" cy="384048"/>
          </a:xfrm>
          <a:prstGeom prst="roundRect">
            <a:avLst/>
          </a:prstGeom>
          <a:solidFill>
            <a:srgbClr val="0F172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B82F6"/>
                </a:solidFill>
              </a:defRPr>
            </a:pPr>
            <a:r>
              <a:t>[SHIELD] Multi-Modal AI</a:t>
            </a:r>
          </a:p>
        </p:txBody>
      </p:sp>
      <p:sp>
        <p:nvSpPr>
          <p:cNvPr id="9" name="Rounded Rectangle 8"/>
          <p:cNvSpPr/>
          <p:nvPr/>
        </p:nvSpPr>
        <p:spPr>
          <a:xfrm>
            <a:off x="5029200" y="5303520"/>
            <a:ext cx="1874519" cy="384048"/>
          </a:xfrm>
          <a:prstGeom prst="roundRect">
            <a:avLst/>
          </a:prstGeom>
          <a:solidFill>
            <a:srgbClr val="0F172A"/>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[PRIVACY] Zero-Data Retention</a:t>
            </a:r>
          </a:p>
        </p:txBody>
      </p:sp>
      <p:sp>
        <p:nvSpPr>
          <p:cNvPr id="10" name="Rounded Rectangle 9"/>
          <p:cNvSpPr/>
          <p:nvPr/>
        </p:nvSpPr>
        <p:spPr>
          <a:xfrm>
            <a:off x="7680960" y="731520"/>
            <a:ext cx="3749039" cy="5394960"/>
          </a:xfrm>
          <a:prstGeom prst="roundRect">
            <a:avLst/>
          </a:prstGeom>
          <a:solidFill>
            <a:srgbClr val="0F172A"/>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eal_life_usecase.png"/>
          <p:cNvPicPr>
            <a:picLocks noChangeAspect="1"/>
          </p:cNvPicPr>
          <p:nvPr/>
        </p:nvPicPr>
        <p:blipFill>
          <a:blip r:embed="rId3"/>
          <a:stretch>
            <a:fillRect/>
          </a:stretch>
        </p:blipFill>
        <p:spPr>
          <a:xfrm>
            <a:off x="7818120" y="960120"/>
            <a:ext cx="3474720" cy="1680264"/>
          </a:xfrm>
          <a:prstGeom prst="rect">
            <a:avLst/>
          </a:prstGeom>
        </p:spPr>
      </p:pic>
      <p:sp>
        <p:nvSpPr>
          <p:cNvPr id="12" name="TextBox 11"/>
          <p:cNvSpPr txBox="1"/>
          <p:nvPr/>
        </p:nvSpPr>
        <p:spPr>
          <a:xfrm>
            <a:off x="7818120" y="5257800"/>
            <a:ext cx="3474720" cy="640080"/>
          </a:xfrm>
          <a:prstGeom prst="rect">
            <a:avLst/>
          </a:prstGeom>
          <a:noFill/>
        </p:spPr>
        <p:txBody>
          <a:bodyPr wrap="square">
            <a:spAutoFit/>
          </a:bodyPr>
          <a:lstStyle/>
          <a:p>
            <a:pPr algn="ctr">
              <a:defRPr sz="1000" b="1">
                <a:solidFill>
                  <a:srgbClr val="10B981"/>
                </a:solidFill>
              </a:defRPr>
            </a:pPr>
            <a:r>
              <a:t>[ACTIVE PROTOTYPE] Validated across real payment attack scenarios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20040"/>
            <a:ext cx="9601200" cy="320040"/>
          </a:xfrm>
          <a:prstGeom prst="rect">
            <a:avLst/>
          </a:prstGeom>
          <a:noFill/>
        </p:spPr>
        <p:txBody>
          <a:bodyPr wrap="square" lIns="0" tIns="0" rIns="0" bIns="0">
            <a:spAutoFit/>
          </a:bodyPr>
          <a:lstStyle/>
          <a:p>
            <a:pPr>
              <a:defRPr sz="1100" b="1">
                <a:solidFill>
                  <a:srgbClr val="EF4444"/>
                </a:solidFill>
              </a:defRPr>
            </a:pPr>
            <a:r>
              <a:t>// THE DIGITAL PAYMENT CRISIS //</a:t>
            </a:r>
          </a:p>
        </p:txBody>
      </p:sp>
      <p:sp>
        <p:nvSpPr>
          <p:cNvPr id="4" name="TextBox 3"/>
          <p:cNvSpPr txBox="1"/>
          <p:nvPr/>
        </p:nvSpPr>
        <p:spPr>
          <a:xfrm>
            <a:off x="731520" y="621792"/>
            <a:ext cx="9601200" cy="594360"/>
          </a:xfrm>
          <a:prstGeom prst="rect">
            <a:avLst/>
          </a:prstGeom>
          <a:noFill/>
        </p:spPr>
        <p:txBody>
          <a:bodyPr wrap="square" lIns="0" tIns="0" rIns="0" bIns="0">
            <a:spAutoFit/>
          </a:bodyPr>
          <a:lstStyle/>
          <a:p>
            <a:pPr>
              <a:defRPr sz="2300" b="1">
                <a:solidFill>
                  <a:srgbClr val="FFFFFF"/>
                </a:solidFill>
              </a:defRPr>
            </a:pPr>
            <a:r>
              <a:t>Instant Payments. Delayed Fraud Awareness.</a:t>
            </a:r>
          </a:p>
        </p:txBody>
      </p:sp>
      <p:pic>
        <p:nvPicPr>
          <p:cNvPr id="5" name="Picture 4" descr="logo.png"/>
          <p:cNvPicPr>
            <a:picLocks noChangeAspect="1"/>
          </p:cNvPicPr>
          <p:nvPr/>
        </p:nvPicPr>
        <p:blipFill>
          <a:blip r:embed="rId3"/>
          <a:stretch>
            <a:fillRect/>
          </a:stretch>
        </p:blipFill>
        <p:spPr>
          <a:xfrm>
            <a:off x="10789920" y="347472"/>
            <a:ext cx="640080" cy="640080"/>
          </a:xfrm>
          <a:prstGeom prst="rect">
            <a:avLst/>
          </a:prstGeom>
        </p:spPr>
      </p:pic>
      <p:sp>
        <p:nvSpPr>
          <p:cNvPr id="6" name="Rounded Rectangle 5"/>
          <p:cNvSpPr/>
          <p:nvPr/>
        </p:nvSpPr>
        <p:spPr>
          <a:xfrm>
            <a:off x="731520" y="1417320"/>
            <a:ext cx="3383280" cy="4800600"/>
          </a:xfrm>
          <a:prstGeom prst="roundRect">
            <a:avLst/>
          </a:prstGeom>
          <a:solidFill>
            <a:srgbClr val="0F17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17320"/>
            <a:ext cx="338328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00200"/>
            <a:ext cx="914400" cy="502920"/>
          </a:xfrm>
          <a:prstGeom prst="rect">
            <a:avLst/>
          </a:prstGeom>
          <a:noFill/>
        </p:spPr>
        <p:txBody>
          <a:bodyPr wrap="none">
            <a:spAutoFit/>
          </a:bodyPr>
          <a:lstStyle/>
          <a:p>
            <a:pPr>
              <a:defRPr sz="2600" b="1">
                <a:solidFill>
                  <a:srgbClr val="EF4444"/>
                </a:solidFill>
              </a:defRPr>
            </a:pPr>
            <a:r>
              <a:t>01</a:t>
            </a:r>
          </a:p>
        </p:txBody>
      </p:sp>
      <p:sp>
        <p:nvSpPr>
          <p:cNvPr id="9" name="TextBox 8"/>
          <p:cNvSpPr txBox="1"/>
          <p:nvPr/>
        </p:nvSpPr>
        <p:spPr>
          <a:xfrm>
            <a:off x="960120" y="2194560"/>
            <a:ext cx="2926080" cy="3749039"/>
          </a:xfrm>
          <a:prstGeom prst="rect">
            <a:avLst/>
          </a:prstGeom>
          <a:noFill/>
        </p:spPr>
        <p:txBody>
          <a:bodyPr wrap="square">
            <a:spAutoFit/>
          </a:bodyPr>
          <a:lstStyle/>
          <a:p>
            <a:pPr>
              <a:defRPr sz="1550" b="1">
                <a:solidFill>
                  <a:srgbClr val="FFFFFF"/>
                </a:solidFill>
              </a:defRPr>
            </a:pPr>
            <a:r>
              <a:t>Physical QR Sticker Swapping</a:t>
            </a:r>
          </a:p>
          <a:p>
            <a:pPr>
              <a:defRPr sz="1100">
                <a:solidFill>
                  <a:srgbClr val="38BDF8"/>
                </a:solidFill>
              </a:defRPr>
            </a:pPr>
            <a:r>
              <a:t>Point-of-Sale Tampering</a:t>
            </a:r>
          </a:p>
          <a:p>
            <a:pPr>
              <a:defRPr sz="1150">
                <a:solidFill>
                  <a:srgbClr val="94A3B8"/>
                </a:solidFill>
              </a:defRPr>
            </a:pPr>
            <a:r>
              <a:t>Fraudsters paste deceptive scam QR stickers over legitimate shop counter stands. Funds are silently diverted to attacker accounts at checkout.</a:t>
            </a:r>
          </a:p>
          <a:p>
            <a:pPr>
              <a:defRPr sz="1050" b="1">
                <a:solidFill>
                  <a:srgbClr val="EF4444"/>
                </a:solidFill>
              </a:defRPr>
            </a:pPr>
            <a:r>
              <a:t>[VULNERABILITY] Threat: Silent checkout fund diversion</a:t>
            </a:r>
          </a:p>
        </p:txBody>
      </p:sp>
      <p:sp>
        <p:nvSpPr>
          <p:cNvPr id="10" name="Rounded Rectangle 9"/>
          <p:cNvSpPr/>
          <p:nvPr/>
        </p:nvSpPr>
        <p:spPr>
          <a:xfrm>
            <a:off x="4389120" y="1417320"/>
            <a:ext cx="3383280" cy="4800600"/>
          </a:xfrm>
          <a:prstGeom prst="roundRect">
            <a:avLst/>
          </a:prstGeom>
          <a:solidFill>
            <a:srgbClr val="0F17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417320"/>
            <a:ext cx="338328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1600200"/>
            <a:ext cx="914400" cy="502920"/>
          </a:xfrm>
          <a:prstGeom prst="rect">
            <a:avLst/>
          </a:prstGeom>
          <a:noFill/>
        </p:spPr>
        <p:txBody>
          <a:bodyPr wrap="none">
            <a:spAutoFit/>
          </a:bodyPr>
          <a:lstStyle/>
          <a:p>
            <a:pPr>
              <a:defRPr sz="2600" b="1">
                <a:solidFill>
                  <a:srgbClr val="F59E0B"/>
                </a:solidFill>
              </a:defRPr>
            </a:pPr>
            <a:r>
              <a:t>02</a:t>
            </a:r>
          </a:p>
        </p:txBody>
      </p:sp>
      <p:sp>
        <p:nvSpPr>
          <p:cNvPr id="13" name="TextBox 12"/>
          <p:cNvSpPr txBox="1"/>
          <p:nvPr/>
        </p:nvSpPr>
        <p:spPr>
          <a:xfrm>
            <a:off x="4617720" y="2194560"/>
            <a:ext cx="2926080" cy="3749039"/>
          </a:xfrm>
          <a:prstGeom prst="rect">
            <a:avLst/>
          </a:prstGeom>
          <a:noFill/>
        </p:spPr>
        <p:txBody>
          <a:bodyPr wrap="square">
            <a:spAutoFit/>
          </a:bodyPr>
          <a:lstStyle/>
          <a:p>
            <a:pPr>
              <a:defRPr sz="1550" b="1">
                <a:solidFill>
                  <a:srgbClr val="FFFFFF"/>
                </a:solidFill>
              </a:defRPr>
            </a:pPr>
            <a:r>
              <a:t>Doctored Payment Screenshots</a:t>
            </a:r>
          </a:p>
          <a:p>
            <a:pPr>
              <a:defRPr sz="1100">
                <a:solidFill>
                  <a:srgbClr val="38BDF8"/>
                </a:solidFill>
              </a:defRPr>
            </a:pPr>
            <a:r>
              <a:t>Digital Visual Image Forgery</a:t>
            </a:r>
          </a:p>
          <a:p>
            <a:pPr>
              <a:defRPr sz="1150">
                <a:solidFill>
                  <a:srgbClr val="94A3B8"/>
                </a:solidFill>
              </a:defRPr>
            </a:pPr>
            <a:r>
              <a:t>Customers flash fabricated GPay / PhonePe receipt screenshots made via photo editing apps. Merchants hand over goods without receiving funds.</a:t>
            </a:r>
          </a:p>
          <a:p>
            <a:pPr>
              <a:defRPr sz="1050" b="1">
                <a:solidFill>
                  <a:srgbClr val="F59E0B"/>
                </a:solidFill>
              </a:defRPr>
            </a:pPr>
            <a:r>
              <a:t>[VULNERABILITY] Threat: Merchants lose daily working capital</a:t>
            </a:r>
          </a:p>
        </p:txBody>
      </p:sp>
      <p:sp>
        <p:nvSpPr>
          <p:cNvPr id="14" name="Rounded Rectangle 13"/>
          <p:cNvSpPr/>
          <p:nvPr/>
        </p:nvSpPr>
        <p:spPr>
          <a:xfrm>
            <a:off x="8046720" y="1417320"/>
            <a:ext cx="3383280" cy="4800600"/>
          </a:xfrm>
          <a:prstGeom prst="roundRect">
            <a:avLst/>
          </a:prstGeom>
          <a:solidFill>
            <a:srgbClr val="0F17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417320"/>
            <a:ext cx="338328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1600200"/>
            <a:ext cx="914400" cy="502920"/>
          </a:xfrm>
          <a:prstGeom prst="rect">
            <a:avLst/>
          </a:prstGeom>
          <a:noFill/>
        </p:spPr>
        <p:txBody>
          <a:bodyPr wrap="none">
            <a:spAutoFit/>
          </a:bodyPr>
          <a:lstStyle/>
          <a:p>
            <a:pPr>
              <a:defRPr sz="2600" b="1">
                <a:solidFill>
                  <a:srgbClr val="EF4444"/>
                </a:solidFill>
              </a:defRPr>
            </a:pPr>
            <a:r>
              <a:t>03</a:t>
            </a:r>
          </a:p>
        </p:txBody>
      </p:sp>
      <p:sp>
        <p:nvSpPr>
          <p:cNvPr id="17" name="TextBox 16"/>
          <p:cNvSpPr txBox="1"/>
          <p:nvPr/>
        </p:nvSpPr>
        <p:spPr>
          <a:xfrm>
            <a:off x="8275320" y="2194560"/>
            <a:ext cx="2926080" cy="3749039"/>
          </a:xfrm>
          <a:prstGeom prst="rect">
            <a:avLst/>
          </a:prstGeom>
          <a:noFill/>
        </p:spPr>
        <p:txBody>
          <a:bodyPr wrap="square">
            <a:spAutoFit/>
          </a:bodyPr>
          <a:lstStyle/>
          <a:p>
            <a:pPr>
              <a:defRPr sz="1550" b="1">
                <a:solidFill>
                  <a:srgbClr val="FFFFFF"/>
                </a:solidFill>
              </a:defRPr>
            </a:pPr>
            <a:r>
              <a:t>Phishing &amp; Urgency Traps</a:t>
            </a:r>
          </a:p>
          <a:p>
            <a:pPr>
              <a:defRPr sz="1100">
                <a:solidFill>
                  <a:srgbClr val="38BDF8"/>
                </a:solidFill>
              </a:defRPr>
            </a:pPr>
            <a:r>
              <a:t>Social Engineering Links</a:t>
            </a:r>
          </a:p>
          <a:p>
            <a:pPr>
              <a:defRPr sz="1150">
                <a:solidFill>
                  <a:srgbClr val="94A3B8"/>
                </a:solidFill>
              </a:defRPr>
            </a:pPr>
            <a:r>
              <a:t>Scammers send WhatsApp / SMS links disguised as 'Cashback' or 'KYC Update'. Clicking triggers an unauthorized debit request (`upi://pay`).</a:t>
            </a:r>
          </a:p>
          <a:p>
            <a:pPr>
              <a:defRPr sz="1050" b="1">
                <a:solidFill>
                  <a:srgbClr val="EF4444"/>
                </a:solidFill>
              </a:defRPr>
            </a:pPr>
            <a:r>
              <a:t>[VULNERABILITY] Threat: Victims realize only after bank debit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20040"/>
            <a:ext cx="9601200" cy="320040"/>
          </a:xfrm>
          <a:prstGeom prst="rect">
            <a:avLst/>
          </a:prstGeom>
          <a:noFill/>
        </p:spPr>
        <p:txBody>
          <a:bodyPr wrap="square" lIns="0" tIns="0" rIns="0" bIns="0">
            <a:spAutoFit/>
          </a:bodyPr>
          <a:lstStyle/>
          <a:p>
            <a:pPr>
              <a:defRPr sz="1100" b="1">
                <a:solidFill>
                  <a:srgbClr val="3B82F6"/>
                </a:solidFill>
              </a:defRPr>
            </a:pPr>
            <a:r>
              <a:t>// THE CORE INSIGHT //</a:t>
            </a:r>
          </a:p>
        </p:txBody>
      </p:sp>
      <p:sp>
        <p:nvSpPr>
          <p:cNvPr id="4" name="TextBox 3"/>
          <p:cNvSpPr txBox="1"/>
          <p:nvPr/>
        </p:nvSpPr>
        <p:spPr>
          <a:xfrm>
            <a:off x="731520" y="621792"/>
            <a:ext cx="9601200" cy="594360"/>
          </a:xfrm>
          <a:prstGeom prst="rect">
            <a:avLst/>
          </a:prstGeom>
          <a:noFill/>
        </p:spPr>
        <p:txBody>
          <a:bodyPr wrap="square" lIns="0" tIns="0" rIns="0" bIns="0">
            <a:spAutoFit/>
          </a:bodyPr>
          <a:lstStyle/>
          <a:p>
            <a:pPr>
              <a:defRPr sz="2300" b="1">
                <a:solidFill>
                  <a:srgbClr val="FFFFFF"/>
                </a:solidFill>
              </a:defRPr>
            </a:pPr>
            <a:r>
              <a:t>The Security Gap Exists Before The Payment</a:t>
            </a:r>
          </a:p>
        </p:txBody>
      </p:sp>
      <p:pic>
        <p:nvPicPr>
          <p:cNvPr id="5" name="Picture 4" descr="logo.png"/>
          <p:cNvPicPr>
            <a:picLocks noChangeAspect="1"/>
          </p:cNvPicPr>
          <p:nvPr/>
        </p:nvPicPr>
        <p:blipFill>
          <a:blip r:embed="rId3"/>
          <a:stretch>
            <a:fillRect/>
          </a:stretch>
        </p:blipFill>
        <p:spPr>
          <a:xfrm>
            <a:off x="10789920" y="347472"/>
            <a:ext cx="640080" cy="640080"/>
          </a:xfrm>
          <a:prstGeom prst="rect">
            <a:avLst/>
          </a:prstGeom>
        </p:spPr>
      </p:pic>
      <p:sp>
        <p:nvSpPr>
          <p:cNvPr id="6" name="Rounded Rectangle 5"/>
          <p:cNvSpPr/>
          <p:nvPr/>
        </p:nvSpPr>
        <p:spPr>
          <a:xfrm>
            <a:off x="731520" y="1417320"/>
            <a:ext cx="5212080" cy="4800600"/>
          </a:xfrm>
          <a:prstGeom prst="roundRect">
            <a:avLst/>
          </a:prstGeom>
          <a:solidFill>
            <a:srgbClr val="0F17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17920" y="1417320"/>
            <a:ext cx="5212080" cy="4800600"/>
          </a:xfrm>
          <a:prstGeom prst="roundRect">
            <a:avLst/>
          </a:prstGeom>
          <a:solidFill>
            <a:srgbClr val="0F172A"/>
          </a:solidFill>
          <a:ln w="228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645920"/>
            <a:ext cx="4572000" cy="4297680"/>
          </a:xfrm>
          <a:prstGeom prst="rect">
            <a:avLst/>
          </a:prstGeom>
          <a:noFill/>
        </p:spPr>
        <p:txBody>
          <a:bodyPr wrap="square">
            <a:spAutoFit/>
          </a:bodyPr>
          <a:lstStyle/>
          <a:p>
            <a:pPr>
              <a:defRPr sz="1650" b="1">
                <a:solidFill>
                  <a:srgbClr val="EF4444"/>
                </a:solidFill>
              </a:defRPr>
            </a:pPr>
            <a:r>
              <a:t>[TRADITIONAL] Current Payment Experience</a:t>
            </a:r>
          </a:p>
          <a:p>
            <a:pPr>
              <a:defRPr sz="1150">
                <a:solidFill>
                  <a:srgbClr val="94A3B8"/>
                </a:solidFill>
              </a:defRPr>
            </a:pPr>
            <a:r>
              <a:t>• Reactive Focus: Fraud is flagged only AFTER money is deducted via post-transaction dispute forms.</a:t>
            </a:r>
          </a:p>
          <a:p>
            <a:pPr>
              <a:defRPr sz="1150">
                <a:solidFill>
                  <a:srgbClr val="94A3B8"/>
                </a:solidFill>
              </a:defRPr>
            </a:pPr>
            <a:r>
              <a:t>• Blind Trust in QR URLs: Apps parse raw links without validating physical counter sticker integrity.</a:t>
            </a:r>
          </a:p>
          <a:p>
            <a:pPr>
              <a:defRPr sz="1150">
                <a:solidFill>
                  <a:srgbClr val="94A3B8"/>
                </a:solidFill>
              </a:defRPr>
            </a:pPr>
            <a:r>
              <a:t>• Zero Receipt Defense: Merchants have no built-in tools to detect Photoshop-edited receipts.</a:t>
            </a:r>
          </a:p>
          <a:p>
            <a:pPr>
              <a:defRPr sz="1150">
                <a:solidFill>
                  <a:srgbClr val="94A3B8"/>
                </a:solidFill>
              </a:defRPr>
            </a:pPr>
            <a:r>
              <a:t>• Language Barrier: Technical security jargon confuses non-English speaking retail shopkeepers.</a:t>
            </a:r>
          </a:p>
        </p:txBody>
      </p:sp>
      <p:sp>
        <p:nvSpPr>
          <p:cNvPr id="9" name="TextBox 8"/>
          <p:cNvSpPr txBox="1"/>
          <p:nvPr/>
        </p:nvSpPr>
        <p:spPr>
          <a:xfrm>
            <a:off x="6537960" y="1645920"/>
            <a:ext cx="4572000" cy="4297680"/>
          </a:xfrm>
          <a:prstGeom prst="rect">
            <a:avLst/>
          </a:prstGeom>
          <a:noFill/>
        </p:spPr>
        <p:txBody>
          <a:bodyPr wrap="square">
            <a:spAutoFit/>
          </a:bodyPr>
          <a:lstStyle/>
          <a:p>
            <a:pPr>
              <a:defRPr sz="1650" b="1">
                <a:solidFill>
                  <a:srgbClr val="10B981"/>
                </a:solidFill>
              </a:defRPr>
            </a:pPr>
            <a:r>
              <a:t>[PRE-AUTH SHIELD] Suraksha AI Zero-Trust</a:t>
            </a:r>
          </a:p>
          <a:p>
            <a:pPr>
              <a:defRPr sz="1150">
                <a:solidFill>
                  <a:srgbClr val="F1F5F9"/>
                </a:solidFill>
              </a:defRPr>
            </a:pPr>
            <a:r>
              <a:t>[PROACTIVE] Pre-Payment Warning: Analyzes threat parameters in &lt;200ms BEFORE the user types their PIN.</a:t>
            </a:r>
          </a:p>
          <a:p>
            <a:pPr>
              <a:defRPr sz="1150">
                <a:solidFill>
                  <a:srgbClr val="F1F5F9"/>
                </a:solidFill>
              </a:defRPr>
            </a:pPr>
            <a:r>
              <a:t>[PROACTIVE] Cryptographic QR Shield: Validates HMAC SHA-256 merchant signatures to catch sticker swaps.</a:t>
            </a:r>
          </a:p>
          <a:p>
            <a:pPr>
              <a:defRPr sz="1150">
                <a:solidFill>
                  <a:srgbClr val="F1F5F9"/>
                </a:solidFill>
              </a:defRPr>
            </a:pPr>
            <a:r>
              <a:t>[PROACTIVE] In-Memory ELA Forensics: Applies 75% Q-factor Error Level Analysis in RAM to expose image tampering.</a:t>
            </a:r>
          </a:p>
          <a:p>
            <a:pPr>
              <a:defRPr sz="1150">
                <a:solidFill>
                  <a:srgbClr val="F1F5F9"/>
                </a:solidFill>
              </a:defRPr>
            </a:pPr>
            <a:r>
              <a:t>[PROACTIVE] Bilingual Intelligence: Seamless English &amp; Devanagari Hindi translation protecting Tier-2/3 users.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20040"/>
            <a:ext cx="9601200" cy="320040"/>
          </a:xfrm>
          <a:prstGeom prst="rect">
            <a:avLst/>
          </a:prstGeom>
          <a:noFill/>
        </p:spPr>
        <p:txBody>
          <a:bodyPr wrap="square" lIns="0" tIns="0" rIns="0" bIns="0">
            <a:spAutoFit/>
          </a:bodyPr>
          <a:lstStyle/>
          <a:p>
            <a:pPr>
              <a:defRPr sz="1100" b="1">
                <a:solidFill>
                  <a:srgbClr val="38BDF8"/>
                </a:solidFill>
              </a:defRPr>
            </a:pPr>
            <a:r>
              <a:t>// THE SOLUTION //</a:t>
            </a:r>
          </a:p>
        </p:txBody>
      </p:sp>
      <p:sp>
        <p:nvSpPr>
          <p:cNvPr id="4" name="TextBox 3"/>
          <p:cNvSpPr txBox="1"/>
          <p:nvPr/>
        </p:nvSpPr>
        <p:spPr>
          <a:xfrm>
            <a:off x="731520" y="621792"/>
            <a:ext cx="9601200" cy="594360"/>
          </a:xfrm>
          <a:prstGeom prst="rect">
            <a:avLst/>
          </a:prstGeom>
          <a:noFill/>
        </p:spPr>
        <p:txBody>
          <a:bodyPr wrap="square" lIns="0" tIns="0" rIns="0" bIns="0">
            <a:spAutoFit/>
          </a:bodyPr>
          <a:lstStyle/>
          <a:p>
            <a:pPr>
              <a:defRPr sz="2300" b="1">
                <a:solidFill>
                  <a:srgbClr val="FFFFFF"/>
                </a:solidFill>
              </a:defRPr>
            </a:pPr>
            <a:r>
              <a:t>Meet Suraksha AI: Multi-Modal Defense Grid</a:t>
            </a:r>
          </a:p>
        </p:txBody>
      </p:sp>
      <p:pic>
        <p:nvPicPr>
          <p:cNvPr id="5" name="Picture 4" descr="logo.png"/>
          <p:cNvPicPr>
            <a:picLocks noChangeAspect="1"/>
          </p:cNvPicPr>
          <p:nvPr/>
        </p:nvPicPr>
        <p:blipFill>
          <a:blip r:embed="rId3"/>
          <a:stretch>
            <a:fillRect/>
          </a:stretch>
        </p:blipFill>
        <p:spPr>
          <a:xfrm>
            <a:off x="10789920" y="347472"/>
            <a:ext cx="640080" cy="640080"/>
          </a:xfrm>
          <a:prstGeom prst="rect">
            <a:avLst/>
          </a:prstGeom>
        </p:spPr>
      </p:pic>
      <p:sp>
        <p:nvSpPr>
          <p:cNvPr id="6" name="Rounded Rectangle 5"/>
          <p:cNvSpPr/>
          <p:nvPr/>
        </p:nvSpPr>
        <p:spPr>
          <a:xfrm>
            <a:off x="731520" y="1417320"/>
            <a:ext cx="2514600" cy="214884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2148840" cy="1783080"/>
          </a:xfrm>
          <a:prstGeom prst="rect">
            <a:avLst/>
          </a:prstGeom>
          <a:noFill/>
        </p:spPr>
        <p:txBody>
          <a:bodyPr wrap="square">
            <a:spAutoFit/>
          </a:bodyPr>
          <a:lstStyle/>
          <a:p>
            <a:pPr>
              <a:defRPr sz="1350" b="1">
                <a:solidFill>
                  <a:srgbClr val="10B981"/>
                </a:solidFill>
              </a:defRPr>
            </a:pPr>
            <a:r>
              <a:t>01. Live QR Scanner</a:t>
            </a:r>
          </a:p>
          <a:p>
            <a:pPr>
              <a:defRPr sz="1100">
                <a:solidFill>
                  <a:srgbClr val="94A3B8"/>
                </a:solidFill>
              </a:defRPr>
            </a:pPr>
            <a:r>
              <a:t>WebRTC camera feed parses UPI URI, checks VPA blacklists &amp; validates HMAC signatures.</a:t>
            </a:r>
          </a:p>
        </p:txBody>
      </p:sp>
      <p:sp>
        <p:nvSpPr>
          <p:cNvPr id="8" name="Rounded Rectangle 7"/>
          <p:cNvSpPr/>
          <p:nvPr/>
        </p:nvSpPr>
        <p:spPr>
          <a:xfrm>
            <a:off x="3429000" y="1417320"/>
            <a:ext cx="2514600" cy="2148840"/>
          </a:xfrm>
          <a:prstGeom prst="roundRect">
            <a:avLst/>
          </a:prstGeom>
          <a:solidFill>
            <a:srgbClr val="0F172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80" y="1600200"/>
            <a:ext cx="2148840" cy="1783080"/>
          </a:xfrm>
          <a:prstGeom prst="rect">
            <a:avLst/>
          </a:prstGeom>
          <a:noFill/>
        </p:spPr>
        <p:txBody>
          <a:bodyPr wrap="square">
            <a:spAutoFit/>
          </a:bodyPr>
          <a:lstStyle/>
          <a:p>
            <a:pPr>
              <a:defRPr sz="1350" b="1">
                <a:solidFill>
                  <a:srgbClr val="3B82F6"/>
                </a:solidFill>
              </a:defRPr>
            </a:pPr>
            <a:r>
              <a:t>02. Image Forensic ELA</a:t>
            </a:r>
          </a:p>
          <a:p>
            <a:pPr>
              <a:defRPr sz="1100">
                <a:solidFill>
                  <a:srgbClr val="94A3B8"/>
                </a:solidFill>
              </a:defRPr>
            </a:pPr>
            <a:r>
              <a:t>RAM-only OpenCV JPEG Error Level Analysis detects doctored receipt screenshots.</a:t>
            </a:r>
          </a:p>
        </p:txBody>
      </p:sp>
      <p:sp>
        <p:nvSpPr>
          <p:cNvPr id="10" name="Rounded Rectangle 9"/>
          <p:cNvSpPr/>
          <p:nvPr/>
        </p:nvSpPr>
        <p:spPr>
          <a:xfrm>
            <a:off x="6126480" y="1417320"/>
            <a:ext cx="2514600" cy="2148840"/>
          </a:xfrm>
          <a:prstGeom prst="roundRect">
            <a:avLst/>
          </a:prstGeom>
          <a:solidFill>
            <a:srgbClr val="0F17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600200"/>
            <a:ext cx="2148840" cy="1783080"/>
          </a:xfrm>
          <a:prstGeom prst="rect">
            <a:avLst/>
          </a:prstGeom>
          <a:noFill/>
        </p:spPr>
        <p:txBody>
          <a:bodyPr wrap="square">
            <a:spAutoFit/>
          </a:bodyPr>
          <a:lstStyle/>
          <a:p>
            <a:pPr>
              <a:defRPr sz="1350" b="1">
                <a:solidFill>
                  <a:srgbClr val="F59E0B"/>
                </a:solidFill>
              </a:defRPr>
            </a:pPr>
            <a:r>
              <a:t>03. NLP Message Validator</a:t>
            </a:r>
          </a:p>
          <a:p>
            <a:pPr>
              <a:defRPr sz="1100">
                <a:solidFill>
                  <a:srgbClr val="94A3B8"/>
                </a:solidFill>
              </a:defRPr>
            </a:pPr>
            <a:r>
              <a:t>Naive Bayes &amp; Regex heuristic matrix flags cashback / KYC urgency traps in &lt;20ms.</a:t>
            </a:r>
          </a:p>
        </p:txBody>
      </p:sp>
      <p:sp>
        <p:nvSpPr>
          <p:cNvPr id="12" name="Rounded Rectangle 11"/>
          <p:cNvSpPr/>
          <p:nvPr/>
        </p:nvSpPr>
        <p:spPr>
          <a:xfrm>
            <a:off x="8823960" y="1417320"/>
            <a:ext cx="2514600" cy="214884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06840" y="1600200"/>
            <a:ext cx="2148840" cy="1783080"/>
          </a:xfrm>
          <a:prstGeom prst="rect">
            <a:avLst/>
          </a:prstGeom>
          <a:noFill/>
        </p:spPr>
        <p:txBody>
          <a:bodyPr wrap="square">
            <a:spAutoFit/>
          </a:bodyPr>
          <a:lstStyle/>
          <a:p>
            <a:pPr>
              <a:defRPr sz="1350" b="1">
                <a:solidFill>
                  <a:srgbClr val="38BDF8"/>
                </a:solidFill>
              </a:defRPr>
            </a:pPr>
            <a:r>
              <a:t>04. Signed QR Generator</a:t>
            </a:r>
          </a:p>
          <a:p>
            <a:pPr>
              <a:defRPr sz="1100">
                <a:solidFill>
                  <a:srgbClr val="94A3B8"/>
                </a:solidFill>
              </a:defRPr>
            </a:pPr>
            <a:r>
              <a:t>Empowers shopkeepers to generate cryptographically tamper-proof merchant QR codes.</a:t>
            </a:r>
          </a:p>
        </p:txBody>
      </p:sp>
      <p:sp>
        <p:nvSpPr>
          <p:cNvPr id="14" name="Rounded Rectangle 13"/>
          <p:cNvSpPr/>
          <p:nvPr/>
        </p:nvSpPr>
        <p:spPr>
          <a:xfrm>
            <a:off x="731520" y="3794760"/>
            <a:ext cx="10698480" cy="2423160"/>
          </a:xfrm>
          <a:prstGeom prst="roundRect">
            <a:avLst/>
          </a:prstGeom>
          <a:solidFill>
            <a:srgbClr val="0F172A"/>
          </a:solidFill>
          <a:ln w="2286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931920"/>
            <a:ext cx="10149840" cy="2103120"/>
          </a:xfrm>
          <a:prstGeom prst="rect">
            <a:avLst/>
          </a:prstGeom>
          <a:noFill/>
        </p:spPr>
        <p:txBody>
          <a:bodyPr wrap="square">
            <a:spAutoFit/>
          </a:bodyPr>
          <a:lstStyle/>
          <a:p>
            <a:pPr>
              <a:defRPr sz="1300" b="1">
                <a:solidFill>
                  <a:srgbClr val="38BDF8"/>
                </a:solidFill>
              </a:defRPr>
            </a:pPr>
            <a:r>
              <a:t>THE ZERO-TRUST EVALUATION PIPELINE</a:t>
            </a:r>
          </a:p>
          <a:p>
            <a:pPr>
              <a:defRPr sz="1200" b="1">
                <a:solidFill>
                  <a:srgbClr val="FFFFFF"/>
                </a:solidFill>
              </a:defRPr>
            </a:pPr>
            <a:r>
              <a:t>User Input (QR / Image / SMS)  ──&gt;  In-Memory Sanitization  ──&gt;  Multi-Signal Evaluation (ELA + HMAC + NLP)  ──&gt;  Weighted Risk Engine  ──&gt;  Actionable HUD Verdict</a:t>
            </a:r>
          </a:p>
          <a:p>
            <a:pPr>
              <a:defRPr sz="1100">
                <a:solidFill>
                  <a:srgbClr val="E2E8F0"/>
                </a:solidFill>
              </a:defRPr>
            </a:pPr>
            <a:r>
              <a:t>[SAFE] Score 0–30: Trusted Merchant (Auto-Launch Payment)   |   [CAUTION] Score 31–70: Verify Identity   |   [HIGH RISK] Score 71–100: Block &amp; Report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20040"/>
            <a:ext cx="9601200" cy="320040"/>
          </a:xfrm>
          <a:prstGeom prst="rect">
            <a:avLst/>
          </a:prstGeom>
          <a:noFill/>
        </p:spPr>
        <p:txBody>
          <a:bodyPr wrap="square" lIns="0" tIns="0" rIns="0" bIns="0">
            <a:spAutoFit/>
          </a:bodyPr>
          <a:lstStyle/>
          <a:p>
            <a:pPr>
              <a:defRPr sz="1100" b="1">
                <a:solidFill>
                  <a:srgbClr val="10B981"/>
                </a:solidFill>
              </a:defRPr>
            </a:pPr>
            <a:r>
              <a:t>// PRODUCT EVIDENCE //</a:t>
            </a:r>
          </a:p>
        </p:txBody>
      </p:sp>
      <p:sp>
        <p:nvSpPr>
          <p:cNvPr id="4" name="TextBox 3"/>
          <p:cNvSpPr txBox="1"/>
          <p:nvPr/>
        </p:nvSpPr>
        <p:spPr>
          <a:xfrm>
            <a:off x="731520" y="621792"/>
            <a:ext cx="9601200" cy="594360"/>
          </a:xfrm>
          <a:prstGeom prst="rect">
            <a:avLst/>
          </a:prstGeom>
          <a:noFill/>
        </p:spPr>
        <p:txBody>
          <a:bodyPr wrap="square" lIns="0" tIns="0" rIns="0" bIns="0">
            <a:spAutoFit/>
          </a:bodyPr>
          <a:lstStyle/>
          <a:p>
            <a:pPr>
              <a:defRPr sz="2300" b="1">
                <a:solidFill>
                  <a:srgbClr val="FFFFFF"/>
                </a:solidFill>
              </a:defRPr>
            </a:pPr>
            <a:r>
              <a:t>See Suraksha in Action: Real-Time Risk HUD</a:t>
            </a:r>
          </a:p>
        </p:txBody>
      </p:sp>
      <p:pic>
        <p:nvPicPr>
          <p:cNvPr id="5" name="Picture 4" descr="logo.png"/>
          <p:cNvPicPr>
            <a:picLocks noChangeAspect="1"/>
          </p:cNvPicPr>
          <p:nvPr/>
        </p:nvPicPr>
        <p:blipFill>
          <a:blip r:embed="rId3"/>
          <a:stretch>
            <a:fillRect/>
          </a:stretch>
        </p:blipFill>
        <p:spPr>
          <a:xfrm>
            <a:off x="10789920" y="347472"/>
            <a:ext cx="640080" cy="640080"/>
          </a:xfrm>
          <a:prstGeom prst="rect">
            <a:avLst/>
          </a:prstGeom>
        </p:spPr>
      </p:pic>
      <p:sp>
        <p:nvSpPr>
          <p:cNvPr id="6" name="Rounded Rectangle 5"/>
          <p:cNvSpPr/>
          <p:nvPr/>
        </p:nvSpPr>
        <p:spPr>
          <a:xfrm>
            <a:off x="731520" y="1417320"/>
            <a:ext cx="3383280" cy="480060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3017520" cy="411480"/>
          </a:xfrm>
          <a:prstGeom prst="rect">
            <a:avLst/>
          </a:prstGeom>
          <a:noFill/>
        </p:spPr>
        <p:txBody>
          <a:bodyPr wrap="square">
            <a:spAutoFit/>
          </a:bodyPr>
          <a:lstStyle/>
          <a:p>
            <a:pPr>
              <a:defRPr sz="1350" b="1">
                <a:solidFill>
                  <a:srgbClr val="38BDF8"/>
                </a:solidFill>
              </a:defRPr>
            </a:pPr>
            <a:r>
              <a:t>1. Multi-Modal Scanner</a:t>
            </a:r>
          </a:p>
        </p:txBody>
      </p:sp>
      <p:pic>
        <p:nvPicPr>
          <p:cNvPr id="8" name="Picture 7" descr="realtime_scanner.png"/>
          <p:cNvPicPr>
            <a:picLocks noChangeAspect="1"/>
          </p:cNvPicPr>
          <p:nvPr/>
        </p:nvPicPr>
        <p:blipFill>
          <a:blip r:embed="rId4"/>
          <a:stretch>
            <a:fillRect/>
          </a:stretch>
        </p:blipFill>
        <p:spPr>
          <a:xfrm>
            <a:off x="914400" y="2011680"/>
            <a:ext cx="3017520" cy="1451306"/>
          </a:xfrm>
          <a:prstGeom prst="rect">
            <a:avLst/>
          </a:prstGeom>
        </p:spPr>
      </p:pic>
      <p:sp>
        <p:nvSpPr>
          <p:cNvPr id="9" name="TextBox 8"/>
          <p:cNvSpPr txBox="1"/>
          <p:nvPr/>
        </p:nvSpPr>
        <p:spPr>
          <a:xfrm>
            <a:off x="914400" y="5532120"/>
            <a:ext cx="3017520" cy="548640"/>
          </a:xfrm>
          <a:prstGeom prst="rect">
            <a:avLst/>
          </a:prstGeom>
          <a:noFill/>
        </p:spPr>
        <p:txBody>
          <a:bodyPr wrap="square">
            <a:spAutoFit/>
          </a:bodyPr>
          <a:lstStyle/>
          <a:p>
            <a:pPr>
              <a:defRPr sz="1000">
                <a:solidFill>
                  <a:srgbClr val="94A3B8"/>
                </a:solidFill>
              </a:defRPr>
            </a:pPr>
            <a:r>
              <a:t>Live camera QR &amp; screenshot input interface</a:t>
            </a:r>
          </a:p>
        </p:txBody>
      </p:sp>
      <p:sp>
        <p:nvSpPr>
          <p:cNvPr id="10" name="Rounded Rectangle 9"/>
          <p:cNvSpPr/>
          <p:nvPr/>
        </p:nvSpPr>
        <p:spPr>
          <a:xfrm>
            <a:off x="4389120" y="1417320"/>
            <a:ext cx="3383280" cy="480060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554480"/>
            <a:ext cx="3017520" cy="411480"/>
          </a:xfrm>
          <a:prstGeom prst="rect">
            <a:avLst/>
          </a:prstGeom>
          <a:noFill/>
        </p:spPr>
        <p:txBody>
          <a:bodyPr wrap="square">
            <a:spAutoFit/>
          </a:bodyPr>
          <a:lstStyle/>
          <a:p>
            <a:pPr>
              <a:defRPr sz="1350" b="1">
                <a:solidFill>
                  <a:srgbClr val="38BDF8"/>
                </a:solidFill>
              </a:defRPr>
            </a:pPr>
            <a:r>
              <a:t>2. Explainable Threat HUD</a:t>
            </a:r>
          </a:p>
        </p:txBody>
      </p:sp>
      <p:pic>
        <p:nvPicPr>
          <p:cNvPr id="12" name="Picture 11" descr="threat_breakdown_hud.png"/>
          <p:cNvPicPr>
            <a:picLocks noChangeAspect="1"/>
          </p:cNvPicPr>
          <p:nvPr/>
        </p:nvPicPr>
        <p:blipFill>
          <a:blip r:embed="rId5"/>
          <a:stretch>
            <a:fillRect/>
          </a:stretch>
        </p:blipFill>
        <p:spPr>
          <a:xfrm>
            <a:off x="4572000" y="2011680"/>
            <a:ext cx="3017520" cy="1463899"/>
          </a:xfrm>
          <a:prstGeom prst="rect">
            <a:avLst/>
          </a:prstGeom>
        </p:spPr>
      </p:pic>
      <p:sp>
        <p:nvSpPr>
          <p:cNvPr id="13" name="TextBox 12"/>
          <p:cNvSpPr txBox="1"/>
          <p:nvPr/>
        </p:nvSpPr>
        <p:spPr>
          <a:xfrm>
            <a:off x="4572000" y="5532120"/>
            <a:ext cx="3017520" cy="548640"/>
          </a:xfrm>
          <a:prstGeom prst="rect">
            <a:avLst/>
          </a:prstGeom>
          <a:noFill/>
        </p:spPr>
        <p:txBody>
          <a:bodyPr wrap="square">
            <a:spAutoFit/>
          </a:bodyPr>
          <a:lstStyle/>
          <a:p>
            <a:pPr>
              <a:defRPr sz="1000">
                <a:solidFill>
                  <a:srgbClr val="94A3B8"/>
                </a:solidFill>
              </a:defRPr>
            </a:pPr>
            <a:r>
              <a:t>Calculates composite risk score with factor checklist</a:t>
            </a:r>
          </a:p>
        </p:txBody>
      </p:sp>
      <p:sp>
        <p:nvSpPr>
          <p:cNvPr id="14" name="Rounded Rectangle 13"/>
          <p:cNvSpPr/>
          <p:nvPr/>
        </p:nvSpPr>
        <p:spPr>
          <a:xfrm>
            <a:off x="8046720" y="1417320"/>
            <a:ext cx="3383280" cy="480060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554480"/>
            <a:ext cx="3017520" cy="411480"/>
          </a:xfrm>
          <a:prstGeom prst="rect">
            <a:avLst/>
          </a:prstGeom>
          <a:noFill/>
        </p:spPr>
        <p:txBody>
          <a:bodyPr wrap="square">
            <a:spAutoFit/>
          </a:bodyPr>
          <a:lstStyle/>
          <a:p>
            <a:pPr>
              <a:defRPr sz="1350" b="1">
                <a:solidFill>
                  <a:srgbClr val="38BDF8"/>
                </a:solidFill>
              </a:defRPr>
            </a:pPr>
            <a:r>
              <a:t>3. Forensic ELA Analysis</a:t>
            </a:r>
          </a:p>
        </p:txBody>
      </p:sp>
      <p:pic>
        <p:nvPicPr>
          <p:cNvPr id="16" name="Picture 15" descr="forensic_ela_check.png"/>
          <p:cNvPicPr>
            <a:picLocks noChangeAspect="1"/>
          </p:cNvPicPr>
          <p:nvPr/>
        </p:nvPicPr>
        <p:blipFill>
          <a:blip r:embed="rId6"/>
          <a:stretch>
            <a:fillRect/>
          </a:stretch>
        </p:blipFill>
        <p:spPr>
          <a:xfrm>
            <a:off x="8229600" y="2011680"/>
            <a:ext cx="3017520" cy="1452063"/>
          </a:xfrm>
          <a:prstGeom prst="rect">
            <a:avLst/>
          </a:prstGeom>
        </p:spPr>
      </p:pic>
      <p:sp>
        <p:nvSpPr>
          <p:cNvPr id="17" name="TextBox 16"/>
          <p:cNvSpPr txBox="1"/>
          <p:nvPr/>
        </p:nvSpPr>
        <p:spPr>
          <a:xfrm>
            <a:off x="8229600" y="5532120"/>
            <a:ext cx="3017520" cy="548640"/>
          </a:xfrm>
          <a:prstGeom prst="rect">
            <a:avLst/>
          </a:prstGeom>
          <a:noFill/>
        </p:spPr>
        <p:txBody>
          <a:bodyPr wrap="square">
            <a:spAutoFit/>
          </a:bodyPr>
          <a:lstStyle/>
          <a:p>
            <a:pPr>
              <a:defRPr sz="1000">
                <a:solidFill>
                  <a:srgbClr val="94A3B8"/>
                </a:solidFill>
              </a:defRPr>
            </a:pPr>
            <a:r>
              <a:t>Exposes pixel modifications in doctored receipts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20040"/>
            <a:ext cx="9601200" cy="320040"/>
          </a:xfrm>
          <a:prstGeom prst="rect">
            <a:avLst/>
          </a:prstGeom>
          <a:noFill/>
        </p:spPr>
        <p:txBody>
          <a:bodyPr wrap="square" lIns="0" tIns="0" rIns="0" bIns="0">
            <a:spAutoFit/>
          </a:bodyPr>
          <a:lstStyle/>
          <a:p>
            <a:pPr>
              <a:defRPr sz="1100" b="1">
                <a:solidFill>
                  <a:srgbClr val="3B82F6"/>
                </a:solidFill>
              </a:defRPr>
            </a:pPr>
            <a:r>
              <a:t>// TECHNICAL ARCHITECTURE //</a:t>
            </a:r>
          </a:p>
        </p:txBody>
      </p:sp>
      <p:sp>
        <p:nvSpPr>
          <p:cNvPr id="4" name="TextBox 3"/>
          <p:cNvSpPr txBox="1"/>
          <p:nvPr/>
        </p:nvSpPr>
        <p:spPr>
          <a:xfrm>
            <a:off x="731520" y="621792"/>
            <a:ext cx="9601200" cy="594360"/>
          </a:xfrm>
          <a:prstGeom prst="rect">
            <a:avLst/>
          </a:prstGeom>
          <a:noFill/>
        </p:spPr>
        <p:txBody>
          <a:bodyPr wrap="square" lIns="0" tIns="0" rIns="0" bIns="0">
            <a:spAutoFit/>
          </a:bodyPr>
          <a:lstStyle/>
          <a:p>
            <a:pPr>
              <a:defRPr sz="2300" b="1">
                <a:solidFill>
                  <a:srgbClr val="FFFFFF"/>
                </a:solidFill>
              </a:defRPr>
            </a:pPr>
            <a:r>
              <a:t>The Intelligence Behind Suraksha AI</a:t>
            </a:r>
          </a:p>
        </p:txBody>
      </p:sp>
      <p:pic>
        <p:nvPicPr>
          <p:cNvPr id="5" name="Picture 4" descr="logo.png"/>
          <p:cNvPicPr>
            <a:picLocks noChangeAspect="1"/>
          </p:cNvPicPr>
          <p:nvPr/>
        </p:nvPicPr>
        <p:blipFill>
          <a:blip r:embed="rId3"/>
          <a:stretch>
            <a:fillRect/>
          </a:stretch>
        </p:blipFill>
        <p:spPr>
          <a:xfrm>
            <a:off x="10789920" y="347472"/>
            <a:ext cx="640080" cy="640080"/>
          </a:xfrm>
          <a:prstGeom prst="rect">
            <a:avLst/>
          </a:prstGeom>
        </p:spPr>
      </p:pic>
      <p:sp>
        <p:nvSpPr>
          <p:cNvPr id="6" name="Rounded Rectangle 5"/>
          <p:cNvSpPr/>
          <p:nvPr/>
        </p:nvSpPr>
        <p:spPr>
          <a:xfrm>
            <a:off x="731520" y="1417320"/>
            <a:ext cx="3383280" cy="480060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00200"/>
            <a:ext cx="2926080" cy="594360"/>
          </a:xfrm>
          <a:prstGeom prst="rect">
            <a:avLst/>
          </a:prstGeom>
          <a:noFill/>
        </p:spPr>
        <p:txBody>
          <a:bodyPr wrap="square">
            <a:spAutoFit/>
          </a:bodyPr>
          <a:lstStyle/>
          <a:p>
            <a:pPr>
              <a:defRPr sz="1350" b="1">
                <a:solidFill>
                  <a:srgbClr val="38BDF8"/>
                </a:solidFill>
              </a:defRPr>
            </a:pPr>
            <a:r>
              <a:t>Layer 1: Visual Image Forensics</a:t>
            </a:r>
          </a:p>
        </p:txBody>
      </p:sp>
      <p:sp>
        <p:nvSpPr>
          <p:cNvPr id="8" name="TextBox 7"/>
          <p:cNvSpPr txBox="1"/>
          <p:nvPr/>
        </p:nvSpPr>
        <p:spPr>
          <a:xfrm>
            <a:off x="960120" y="2331720"/>
            <a:ext cx="2926080" cy="3566160"/>
          </a:xfrm>
          <a:prstGeom prst="rect">
            <a:avLst/>
          </a:prstGeom>
          <a:noFill/>
        </p:spPr>
        <p:txBody>
          <a:bodyPr wrap="square">
            <a:spAutoFit/>
          </a:bodyPr>
          <a:lstStyle/>
          <a:p>
            <a:pPr>
              <a:defRPr sz="1100">
                <a:solidFill>
                  <a:srgbClr val="94A3B8"/>
                </a:solidFill>
              </a:defRPr>
            </a:pPr>
            <a:r>
              <a:t>• 75% JPEG Error Level Analysis: Re-compresses in-memory byte streams to detect localized quantization noise.</a:t>
            </a:r>
          </a:p>
          <a:p>
            <a:pPr>
              <a:defRPr sz="1100">
                <a:solidFill>
                  <a:srgbClr val="94A3B8"/>
                </a:solidFill>
              </a:defRPr>
            </a:pPr>
            <a:r>
              <a:t>• Laplacian Spatial Variance: Measures edge sharpness inconsistencies to detect sharp text overlays (Threshold &gt; 2000).</a:t>
            </a:r>
          </a:p>
          <a:p>
            <a:pPr>
              <a:defRPr sz="1100">
                <a:solidFill>
                  <a:srgbClr val="94A3B8"/>
                </a:solidFill>
              </a:defRPr>
            </a:pPr>
            <a:r>
              <a:t>• Zero-Disk Persistence: Bytes processed via `io.BytesIO` in volatile RAM without saving files to disk.</a:t>
            </a:r>
          </a:p>
        </p:txBody>
      </p:sp>
      <p:sp>
        <p:nvSpPr>
          <p:cNvPr id="9" name="Rounded Rectangle 8"/>
          <p:cNvSpPr/>
          <p:nvPr/>
        </p:nvSpPr>
        <p:spPr>
          <a:xfrm>
            <a:off x="4389120" y="1417320"/>
            <a:ext cx="3383280" cy="4800600"/>
          </a:xfrm>
          <a:prstGeom prst="roundRect">
            <a:avLst/>
          </a:prstGeom>
          <a:solidFill>
            <a:srgbClr val="0F172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600200"/>
            <a:ext cx="2926080" cy="594360"/>
          </a:xfrm>
          <a:prstGeom prst="rect">
            <a:avLst/>
          </a:prstGeom>
          <a:noFill/>
        </p:spPr>
        <p:txBody>
          <a:bodyPr wrap="square">
            <a:spAutoFit/>
          </a:bodyPr>
          <a:lstStyle/>
          <a:p>
            <a:pPr>
              <a:defRPr sz="1350" b="1">
                <a:solidFill>
                  <a:srgbClr val="3B82F6"/>
                </a:solidFill>
              </a:defRPr>
            </a:pPr>
            <a:r>
              <a:t>Layer 2: Cryptographic QR Shield</a:t>
            </a:r>
          </a:p>
        </p:txBody>
      </p:sp>
      <p:sp>
        <p:nvSpPr>
          <p:cNvPr id="11" name="TextBox 10"/>
          <p:cNvSpPr txBox="1"/>
          <p:nvPr/>
        </p:nvSpPr>
        <p:spPr>
          <a:xfrm>
            <a:off x="4617720" y="2331720"/>
            <a:ext cx="2926080" cy="3566160"/>
          </a:xfrm>
          <a:prstGeom prst="rect">
            <a:avLst/>
          </a:prstGeom>
          <a:noFill/>
        </p:spPr>
        <p:txBody>
          <a:bodyPr wrap="square">
            <a:spAutoFit/>
          </a:bodyPr>
          <a:lstStyle/>
          <a:p>
            <a:pPr>
              <a:defRPr sz="1100">
                <a:solidFill>
                  <a:srgbClr val="94A3B8"/>
                </a:solidFill>
              </a:defRPr>
            </a:pPr>
            <a:r>
              <a:t>• HMAC SHA-256 Signatures: Merchants sign VPA parameters using private keys (`sign = SHA256(pn || pa || key)`).</a:t>
            </a:r>
          </a:p>
          <a:p>
            <a:pPr>
              <a:defRPr sz="1100">
                <a:solidFill>
                  <a:srgbClr val="94A3B8"/>
                </a:solidFill>
              </a:defRPr>
            </a:pPr>
            <a:r>
              <a:t>• Merchant Registry Lookup: Matches scanned signatures against trusted databases to expose sticker swapping.</a:t>
            </a:r>
          </a:p>
          <a:p>
            <a:pPr>
              <a:defRPr sz="1100">
                <a:solidFill>
                  <a:srgbClr val="94A3B8"/>
                </a:solidFill>
              </a:defRPr>
            </a:pPr>
            <a:r>
              <a:t>• Format &amp; Scheme Integrity: Validates strictly formatted `upi://pay` URIs against spoofed deep links.</a:t>
            </a:r>
          </a:p>
        </p:txBody>
      </p:sp>
      <p:sp>
        <p:nvSpPr>
          <p:cNvPr id="12" name="Rounded Rectangle 11"/>
          <p:cNvSpPr/>
          <p:nvPr/>
        </p:nvSpPr>
        <p:spPr>
          <a:xfrm>
            <a:off x="8046720" y="1417320"/>
            <a:ext cx="3383280" cy="480060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600200"/>
            <a:ext cx="2926080" cy="594360"/>
          </a:xfrm>
          <a:prstGeom prst="rect">
            <a:avLst/>
          </a:prstGeom>
          <a:noFill/>
        </p:spPr>
        <p:txBody>
          <a:bodyPr wrap="square">
            <a:spAutoFit/>
          </a:bodyPr>
          <a:lstStyle/>
          <a:p>
            <a:pPr>
              <a:defRPr sz="1350" b="1">
                <a:solidFill>
                  <a:srgbClr val="10B981"/>
                </a:solidFill>
              </a:defRPr>
            </a:pPr>
            <a:r>
              <a:t>Layer 3: NLP &amp; Threat Intelligence</a:t>
            </a:r>
          </a:p>
        </p:txBody>
      </p:sp>
      <p:sp>
        <p:nvSpPr>
          <p:cNvPr id="14" name="TextBox 13"/>
          <p:cNvSpPr txBox="1"/>
          <p:nvPr/>
        </p:nvSpPr>
        <p:spPr>
          <a:xfrm>
            <a:off x="8275320" y="2331720"/>
            <a:ext cx="2926080" cy="3566160"/>
          </a:xfrm>
          <a:prstGeom prst="rect">
            <a:avLst/>
          </a:prstGeom>
          <a:noFill/>
        </p:spPr>
        <p:txBody>
          <a:bodyPr wrap="square">
            <a:spAutoFit/>
          </a:bodyPr>
          <a:lstStyle/>
          <a:p>
            <a:pPr>
              <a:defRPr sz="1100">
                <a:solidFill>
                  <a:srgbClr val="94A3B8"/>
                </a:solidFill>
              </a:defRPr>
            </a:pPr>
            <a:r>
              <a:t>• Naive Bayes TF-IDF Model: Classifies SMS/chat strings into benign alerts vs social engineering traps in &lt;20ms.</a:t>
            </a:r>
          </a:p>
          <a:p>
            <a:pPr>
              <a:defRPr sz="1100">
                <a:solidFill>
                  <a:srgbClr val="94A3B8"/>
                </a:solidFill>
              </a:defRPr>
            </a:pPr>
            <a:r>
              <a:t>• Regex Heuristic Rules: Detects high-pressure triggers (account blocked, KYC update, cashback reward).</a:t>
            </a:r>
          </a:p>
          <a:p>
            <a:pPr>
              <a:defRPr sz="1100">
                <a:solidFill>
                  <a:srgbClr val="94A3B8"/>
                </a:solidFill>
              </a:defRPr>
            </a:pPr>
            <a:r>
              <a:t>• Bilingual Translation: Regex word-boundary mapping ensures zero Hindi UI distortion.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20040"/>
            <a:ext cx="9601200" cy="320040"/>
          </a:xfrm>
          <a:prstGeom prst="rect">
            <a:avLst/>
          </a:prstGeom>
          <a:noFill/>
        </p:spPr>
        <p:txBody>
          <a:bodyPr wrap="square" lIns="0" tIns="0" rIns="0" bIns="0">
            <a:spAutoFit/>
          </a:bodyPr>
          <a:lstStyle/>
          <a:p>
            <a:pPr>
              <a:defRPr sz="1100" b="1">
                <a:solidFill>
                  <a:srgbClr val="38BDF8"/>
                </a:solidFill>
              </a:defRPr>
            </a:pPr>
            <a:r>
              <a:t>// COMPETITIVE DIFFERENTIATION //</a:t>
            </a:r>
          </a:p>
        </p:txBody>
      </p:sp>
      <p:sp>
        <p:nvSpPr>
          <p:cNvPr id="4" name="TextBox 3"/>
          <p:cNvSpPr txBox="1"/>
          <p:nvPr/>
        </p:nvSpPr>
        <p:spPr>
          <a:xfrm>
            <a:off x="731520" y="621792"/>
            <a:ext cx="9601200" cy="594360"/>
          </a:xfrm>
          <a:prstGeom prst="rect">
            <a:avLst/>
          </a:prstGeom>
          <a:noFill/>
        </p:spPr>
        <p:txBody>
          <a:bodyPr wrap="square" lIns="0" tIns="0" rIns="0" bIns="0">
            <a:spAutoFit/>
          </a:bodyPr>
          <a:lstStyle/>
          <a:p>
            <a:pPr>
              <a:defRPr sz="2300" b="1">
                <a:solidFill>
                  <a:srgbClr val="FFFFFF"/>
                </a:solidFill>
              </a:defRPr>
            </a:pPr>
            <a:r>
              <a:t>From Payment Execution to Payment Risk Intelligence</a:t>
            </a:r>
          </a:p>
        </p:txBody>
      </p:sp>
      <p:pic>
        <p:nvPicPr>
          <p:cNvPr id="5" name="Picture 4" descr="logo.png"/>
          <p:cNvPicPr>
            <a:picLocks noChangeAspect="1"/>
          </p:cNvPicPr>
          <p:nvPr/>
        </p:nvPicPr>
        <p:blipFill>
          <a:blip r:embed="rId3"/>
          <a:stretch>
            <a:fillRect/>
          </a:stretch>
        </p:blipFill>
        <p:spPr>
          <a:xfrm>
            <a:off x="10789920" y="347472"/>
            <a:ext cx="640080" cy="640080"/>
          </a:xfrm>
          <a:prstGeom prst="rect">
            <a:avLst/>
          </a:prstGeom>
        </p:spPr>
      </p:pic>
      <p:sp>
        <p:nvSpPr>
          <p:cNvPr id="6" name="Rounded Rectangle 5"/>
          <p:cNvSpPr/>
          <p:nvPr/>
        </p:nvSpPr>
        <p:spPr>
          <a:xfrm>
            <a:off x="731520" y="1417320"/>
            <a:ext cx="10698480" cy="480060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1005840" y="1691640"/>
          <a:ext cx="10149840" cy="4114800"/>
        </p:xfrm>
        <a:graphic>
          <a:graphicData uri="http://schemas.openxmlformats.org/drawingml/2006/table">
            <a:tbl>
              <a:tblPr firstRow="1" bandRow="1">
                <a:tableStyleId>{5C22544A-7EE6-4342-B048-85BDC9FD1C3A}</a:tableStyleId>
              </a:tblPr>
              <a:tblGrid>
                <a:gridCol w="3017520"/>
                <a:gridCol w="2377440"/>
                <a:gridCol w="2377440"/>
                <a:gridCol w="2377440"/>
              </a:tblGrid>
              <a:tr h="685800">
                <a:tc>
                  <a:txBody>
                    <a:bodyPr/>
                    <a:lstStyle/>
                    <a:p>
                      <a:pPr algn="l">
                        <a:defRPr sz="1200" b="1">
                          <a:solidFill>
                            <a:srgbClr val="FFFFFF"/>
                          </a:solidFill>
                        </a:defRPr>
                      </a:pPr>
                      <a:r>
                        <a:t>Capability / Feature</a:t>
                      </a:r>
                    </a:p>
                  </a:txBody>
                  <a:tcPr/>
                </a:tc>
                <a:tc>
                  <a:txBody>
                    <a:bodyPr/>
                    <a:lstStyle/>
                    <a:p>
                      <a:pPr algn="ctr">
                        <a:defRPr sz="1200" b="1">
                          <a:solidFill>
                            <a:srgbClr val="FFFFFF"/>
                          </a:solidFill>
                        </a:defRPr>
                      </a:pPr>
                      <a:r>
                        <a:t>Traditional UPI Apps</a:t>
                      </a:r>
                    </a:p>
                  </a:txBody>
                  <a:tcPr/>
                </a:tc>
                <a:tc>
                  <a:txBody>
                    <a:bodyPr/>
                    <a:lstStyle/>
                    <a:p>
                      <a:pPr algn="ctr">
                        <a:defRPr sz="1200" b="1">
                          <a:solidFill>
                            <a:srgbClr val="FFFFFF"/>
                          </a:solidFill>
                        </a:defRPr>
                      </a:pPr>
                      <a:r>
                        <a:t>Server-Side Fraud Logs</a:t>
                      </a:r>
                    </a:p>
                  </a:txBody>
                  <a:tcPr/>
                </a:tc>
                <a:tc>
                  <a:txBody>
                    <a:bodyPr/>
                    <a:lstStyle/>
                    <a:p>
                      <a:pPr algn="ctr">
                        <a:defRPr sz="1200" b="1">
                          <a:solidFill>
                            <a:srgbClr val="38BDF8"/>
                          </a:solidFill>
                        </a:defRPr>
                      </a:pPr>
                      <a:r>
                        <a:t>Suraksha AI Platform</a:t>
                      </a:r>
                    </a:p>
                  </a:txBody>
                  <a:tcPr/>
                </a:tc>
              </a:tr>
              <a:tr h="685800">
                <a:tc>
                  <a:txBody>
                    <a:bodyPr/>
                    <a:lstStyle/>
                    <a:p>
                      <a:pPr algn="l">
                        <a:defRPr sz="1100" b="1">
                          <a:solidFill>
                            <a:srgbClr val="FFFFFF"/>
                          </a:solidFill>
                        </a:defRPr>
                      </a:pPr>
                      <a:r>
                        <a:t>Inspection Timing</a:t>
                      </a:r>
                    </a:p>
                  </a:txBody>
                  <a:tcPr/>
                </a:tc>
                <a:tc>
                  <a:txBody>
                    <a:bodyPr/>
                    <a:lstStyle/>
                    <a:p>
                      <a:pPr algn="ctr">
                        <a:defRPr sz="1100">
                          <a:solidFill>
                            <a:srgbClr val="94A3B8"/>
                          </a:solidFill>
                        </a:defRPr>
                      </a:pPr>
                      <a:r>
                        <a:t>Post-PIN Entry</a:t>
                      </a:r>
                    </a:p>
                  </a:txBody>
                  <a:tcPr/>
                </a:tc>
                <a:tc>
                  <a:txBody>
                    <a:bodyPr/>
                    <a:lstStyle/>
                    <a:p>
                      <a:pPr algn="ctr">
                        <a:defRPr sz="1100">
                          <a:solidFill>
                            <a:srgbClr val="94A3B8"/>
                          </a:solidFill>
                        </a:defRPr>
                      </a:pPr>
                      <a:r>
                        <a:t>Post-Settlement Logs</a:t>
                      </a:r>
                    </a:p>
                  </a:txBody>
                  <a:tcPr/>
                </a:tc>
                <a:tc>
                  <a:txBody>
                    <a:bodyPr/>
                    <a:lstStyle/>
                    <a:p>
                      <a:pPr algn="ctr">
                        <a:defRPr sz="1100" b="1">
                          <a:solidFill>
                            <a:srgbClr val="10B981"/>
                          </a:solidFill>
                        </a:defRPr>
                      </a:pPr>
                      <a:r>
                        <a:t>Pre-Authorization (&lt;200ms)</a:t>
                      </a:r>
                    </a:p>
                  </a:txBody>
                  <a:tcPr/>
                </a:tc>
              </a:tr>
              <a:tr h="685800">
                <a:tc>
                  <a:txBody>
                    <a:bodyPr/>
                    <a:lstStyle/>
                    <a:p>
                      <a:pPr algn="l">
                        <a:defRPr sz="1100" b="1">
                          <a:solidFill>
                            <a:srgbClr val="FFFFFF"/>
                          </a:solidFill>
                        </a:defRPr>
                      </a:pPr>
                      <a:r>
                        <a:t>QR Sticker Swap Defense</a:t>
                      </a:r>
                    </a:p>
                  </a:txBody>
                  <a:tcPr/>
                </a:tc>
                <a:tc>
                  <a:txBody>
                    <a:bodyPr/>
                    <a:lstStyle/>
                    <a:p>
                      <a:pPr algn="ctr">
                        <a:defRPr sz="1100">
                          <a:solidFill>
                            <a:srgbClr val="94A3B8"/>
                          </a:solidFill>
                        </a:defRPr>
                      </a:pPr>
                      <a:r>
                        <a:t>None (Blind trust)</a:t>
                      </a:r>
                    </a:p>
                  </a:txBody>
                  <a:tcPr/>
                </a:tc>
                <a:tc>
                  <a:txBody>
                    <a:bodyPr/>
                    <a:lstStyle/>
                    <a:p>
                      <a:pPr algn="ctr">
                        <a:defRPr sz="1100">
                          <a:solidFill>
                            <a:srgbClr val="94A3B8"/>
                          </a:solidFill>
                        </a:defRPr>
                      </a:pPr>
                      <a:r>
                        <a:t>None</a:t>
                      </a:r>
                    </a:p>
                  </a:txBody>
                  <a:tcPr/>
                </a:tc>
                <a:tc>
                  <a:txBody>
                    <a:bodyPr/>
                    <a:lstStyle/>
                    <a:p>
                      <a:pPr algn="ctr">
                        <a:defRPr sz="1100" b="1">
                          <a:solidFill>
                            <a:srgbClr val="10B981"/>
                          </a:solidFill>
                        </a:defRPr>
                      </a:pPr>
                      <a:r>
                        <a:t>HMAC SHA-256 Validation</a:t>
                      </a:r>
                    </a:p>
                  </a:txBody>
                  <a:tcPr/>
                </a:tc>
              </a:tr>
              <a:tr h="685800">
                <a:tc>
                  <a:txBody>
                    <a:bodyPr/>
                    <a:lstStyle/>
                    <a:p>
                      <a:pPr algn="l">
                        <a:defRPr sz="1100" b="1">
                          <a:solidFill>
                            <a:srgbClr val="FFFFFF"/>
                          </a:solidFill>
                        </a:defRPr>
                      </a:pPr>
                      <a:r>
                        <a:t>Screenshot Forgery Detection</a:t>
                      </a:r>
                    </a:p>
                  </a:txBody>
                  <a:tcPr/>
                </a:tc>
                <a:tc>
                  <a:txBody>
                    <a:bodyPr/>
                    <a:lstStyle/>
                    <a:p>
                      <a:pPr algn="ctr">
                        <a:defRPr sz="1100">
                          <a:solidFill>
                            <a:srgbClr val="94A3B8"/>
                          </a:solidFill>
                        </a:defRPr>
                      </a:pPr>
                      <a:r>
                        <a:t>None</a:t>
                      </a:r>
                    </a:p>
                  </a:txBody>
                  <a:tcPr/>
                </a:tc>
                <a:tc>
                  <a:txBody>
                    <a:bodyPr/>
                    <a:lstStyle/>
                    <a:p>
                      <a:pPr algn="ctr">
                        <a:defRPr sz="1100">
                          <a:solidFill>
                            <a:srgbClr val="94A3B8"/>
                          </a:solidFill>
                        </a:defRPr>
                      </a:pPr>
                      <a:r>
                        <a:t>None</a:t>
                      </a:r>
                    </a:p>
                  </a:txBody>
                  <a:tcPr/>
                </a:tc>
                <a:tc>
                  <a:txBody>
                    <a:bodyPr/>
                    <a:lstStyle/>
                    <a:p>
                      <a:pPr algn="ctr">
                        <a:defRPr sz="1100" b="1">
                          <a:solidFill>
                            <a:srgbClr val="10B981"/>
                          </a:solidFill>
                        </a:defRPr>
                      </a:pPr>
                      <a:r>
                        <a:t>In-Memory ELA Forensics</a:t>
                      </a:r>
                    </a:p>
                  </a:txBody>
                  <a:tcPr/>
                </a:tc>
              </a:tr>
              <a:tr h="685800">
                <a:tc>
                  <a:txBody>
                    <a:bodyPr/>
                    <a:lstStyle/>
                    <a:p>
                      <a:pPr algn="l">
                        <a:defRPr sz="1100" b="1">
                          <a:solidFill>
                            <a:srgbClr val="FFFFFF"/>
                          </a:solidFill>
                        </a:defRPr>
                      </a:pPr>
                      <a:r>
                        <a:t>User Privacy Policy</a:t>
                      </a:r>
                    </a:p>
                  </a:txBody>
                  <a:tcPr/>
                </a:tc>
                <a:tc>
                  <a:txBody>
                    <a:bodyPr/>
                    <a:lstStyle/>
                    <a:p>
                      <a:pPr algn="ctr">
                        <a:defRPr sz="1100">
                          <a:solidFill>
                            <a:srgbClr val="94A3B8"/>
                          </a:solidFill>
                        </a:defRPr>
                      </a:pPr>
                      <a:r>
                        <a:t>Server Transaction Logs</a:t>
                      </a:r>
                    </a:p>
                  </a:txBody>
                  <a:tcPr/>
                </a:tc>
                <a:tc>
                  <a:txBody>
                    <a:bodyPr/>
                    <a:lstStyle/>
                    <a:p>
                      <a:pPr algn="ctr">
                        <a:defRPr sz="1100">
                          <a:solidFill>
                            <a:srgbClr val="94A3B8"/>
                          </a:solidFill>
                        </a:defRPr>
                      </a:pPr>
                      <a:r>
                        <a:t>Bulk Server Storage</a:t>
                      </a:r>
                    </a:p>
                  </a:txBody>
                  <a:tcPr/>
                </a:tc>
                <a:tc>
                  <a:txBody>
                    <a:bodyPr/>
                    <a:lstStyle/>
                    <a:p>
                      <a:pPr algn="ctr">
                        <a:defRPr sz="1100" b="1">
                          <a:solidFill>
                            <a:srgbClr val="10B981"/>
                          </a:solidFill>
                        </a:defRPr>
                      </a:pPr>
                      <a:r>
                        <a:t>Zero-Data Retention (RAM)</a:t>
                      </a:r>
                    </a:p>
                  </a:txBody>
                  <a:tcPr/>
                </a:tc>
              </a:tr>
              <a:tr h="685800">
                <a:tc>
                  <a:txBody>
                    <a:bodyPr/>
                    <a:lstStyle/>
                    <a:p>
                      <a:pPr algn="l">
                        <a:defRPr sz="1100" b="1">
                          <a:solidFill>
                            <a:srgbClr val="FFFFFF"/>
                          </a:solidFill>
                        </a:defRPr>
                      </a:pPr>
                      <a:r>
                        <a:t>Language Inclusivity</a:t>
                      </a:r>
                    </a:p>
                  </a:txBody>
                  <a:tcPr/>
                </a:tc>
                <a:tc>
                  <a:txBody>
                    <a:bodyPr/>
                    <a:lstStyle/>
                    <a:p>
                      <a:pPr algn="ctr">
                        <a:defRPr sz="1100">
                          <a:solidFill>
                            <a:srgbClr val="94A3B8"/>
                          </a:solidFill>
                        </a:defRPr>
                      </a:pPr>
                      <a:r>
                        <a:t>Static / English</a:t>
                      </a:r>
                    </a:p>
                  </a:txBody>
                  <a:tcPr/>
                </a:tc>
                <a:tc>
                  <a:txBody>
                    <a:bodyPr/>
                    <a:lstStyle/>
                    <a:p>
                      <a:pPr algn="ctr">
                        <a:defRPr sz="1100">
                          <a:solidFill>
                            <a:srgbClr val="94A3B8"/>
                          </a:solidFill>
                        </a:defRPr>
                      </a:pPr>
                      <a:r>
                        <a:t>English Only</a:t>
                      </a:r>
                    </a:p>
                  </a:txBody>
                  <a:tcPr/>
                </a:tc>
                <a:tc>
                  <a:txBody>
                    <a:bodyPr/>
                    <a:lstStyle/>
                    <a:p>
                      <a:pPr algn="ctr">
                        <a:defRPr sz="1100" b="1">
                          <a:solidFill>
                            <a:srgbClr val="10B981"/>
                          </a:solidFill>
                        </a:defRPr>
                      </a:pPr>
                      <a:r>
                        <a:t>Dynamic English &amp; Hindi</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20040"/>
            <a:ext cx="9601200" cy="320040"/>
          </a:xfrm>
          <a:prstGeom prst="rect">
            <a:avLst/>
          </a:prstGeom>
          <a:noFill/>
        </p:spPr>
        <p:txBody>
          <a:bodyPr wrap="square" lIns="0" tIns="0" rIns="0" bIns="0">
            <a:spAutoFit/>
          </a:bodyPr>
          <a:lstStyle/>
          <a:p>
            <a:pPr>
              <a:defRPr sz="1100" b="1">
                <a:solidFill>
                  <a:srgbClr val="10B981"/>
                </a:solidFill>
              </a:defRPr>
            </a:pPr>
            <a:r>
              <a:t>// BUSINESS MODEL &amp; SCALE //</a:t>
            </a:r>
          </a:p>
        </p:txBody>
      </p:sp>
      <p:sp>
        <p:nvSpPr>
          <p:cNvPr id="4" name="TextBox 3"/>
          <p:cNvSpPr txBox="1"/>
          <p:nvPr/>
        </p:nvSpPr>
        <p:spPr>
          <a:xfrm>
            <a:off x="731520" y="621792"/>
            <a:ext cx="9601200" cy="594360"/>
          </a:xfrm>
          <a:prstGeom prst="rect">
            <a:avLst/>
          </a:prstGeom>
          <a:noFill/>
        </p:spPr>
        <p:txBody>
          <a:bodyPr wrap="square" lIns="0" tIns="0" rIns="0" bIns="0">
            <a:spAutoFit/>
          </a:bodyPr>
          <a:lstStyle/>
          <a:p>
            <a:pPr>
              <a:defRPr sz="2300" b="1">
                <a:solidFill>
                  <a:srgbClr val="FFFFFF"/>
                </a:solidFill>
              </a:defRPr>
            </a:pPr>
            <a:r>
              <a:t>Built for Users. Designed to Scale.</a:t>
            </a:r>
          </a:p>
        </p:txBody>
      </p:sp>
      <p:pic>
        <p:nvPicPr>
          <p:cNvPr id="5" name="Picture 4" descr="logo.png"/>
          <p:cNvPicPr>
            <a:picLocks noChangeAspect="1"/>
          </p:cNvPicPr>
          <p:nvPr/>
        </p:nvPicPr>
        <p:blipFill>
          <a:blip r:embed="rId3"/>
          <a:stretch>
            <a:fillRect/>
          </a:stretch>
        </p:blipFill>
        <p:spPr>
          <a:xfrm>
            <a:off x="10789920" y="347472"/>
            <a:ext cx="640080" cy="640080"/>
          </a:xfrm>
          <a:prstGeom prst="rect">
            <a:avLst/>
          </a:prstGeom>
        </p:spPr>
      </p:pic>
      <p:sp>
        <p:nvSpPr>
          <p:cNvPr id="6" name="Rounded Rectangle 5"/>
          <p:cNvSpPr/>
          <p:nvPr/>
        </p:nvSpPr>
        <p:spPr>
          <a:xfrm>
            <a:off x="731520" y="1417320"/>
            <a:ext cx="3383280" cy="480060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00200"/>
            <a:ext cx="2926080" cy="777240"/>
          </a:xfrm>
          <a:prstGeom prst="rect">
            <a:avLst/>
          </a:prstGeom>
          <a:noFill/>
        </p:spPr>
        <p:txBody>
          <a:bodyPr wrap="square">
            <a:spAutoFit/>
          </a:bodyPr>
          <a:lstStyle/>
          <a:p>
            <a:pPr>
              <a:defRPr sz="1350" b="1">
                <a:solidFill>
                  <a:srgbClr val="10B981"/>
                </a:solidFill>
              </a:defRPr>
            </a:pPr>
            <a:r>
              <a:t>B2C: Consumer Shield</a:t>
            </a:r>
          </a:p>
          <a:p>
            <a:pPr>
              <a:defRPr sz="1100">
                <a:solidFill>
                  <a:srgbClr val="FFFFFF"/>
                </a:solidFill>
              </a:defRPr>
            </a:pPr>
            <a:r>
              <a:t>Freemium Mobile App</a:t>
            </a:r>
          </a:p>
        </p:txBody>
      </p:sp>
      <p:sp>
        <p:nvSpPr>
          <p:cNvPr id="8" name="TextBox 7"/>
          <p:cNvSpPr txBox="1"/>
          <p:nvPr/>
        </p:nvSpPr>
        <p:spPr>
          <a:xfrm>
            <a:off x="960120" y="2514600"/>
            <a:ext cx="2926080" cy="3383280"/>
          </a:xfrm>
          <a:prstGeom prst="rect">
            <a:avLst/>
          </a:prstGeom>
          <a:noFill/>
        </p:spPr>
        <p:txBody>
          <a:bodyPr wrap="square">
            <a:spAutoFit/>
          </a:bodyPr>
          <a:lstStyle/>
          <a:p>
            <a:pPr>
              <a:defRPr sz="1100">
                <a:solidFill>
                  <a:srgbClr val="94A3B8"/>
                </a:solidFill>
              </a:defRPr>
            </a:pPr>
            <a:r>
              <a:t>• Core Scanner: Free real-time QR &amp; SMS phishing protection for everyday citizens.</a:t>
            </a:r>
          </a:p>
          <a:p>
            <a:pPr>
              <a:defRPr sz="1100">
                <a:solidFill>
                  <a:srgbClr val="94A3B8"/>
                </a:solidFill>
              </a:defRPr>
            </a:pPr>
            <a:r>
              <a:t>• Premium Security HUD: Subscription tier with family protection, instant scam reporting, and cyber insurance link.</a:t>
            </a:r>
          </a:p>
        </p:txBody>
      </p:sp>
      <p:sp>
        <p:nvSpPr>
          <p:cNvPr id="9" name="Rounded Rectangle 8"/>
          <p:cNvSpPr/>
          <p:nvPr/>
        </p:nvSpPr>
        <p:spPr>
          <a:xfrm>
            <a:off x="4389120" y="1417320"/>
            <a:ext cx="3383280" cy="4800600"/>
          </a:xfrm>
          <a:prstGeom prst="roundRect">
            <a:avLst/>
          </a:prstGeom>
          <a:solidFill>
            <a:srgbClr val="0F172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600200"/>
            <a:ext cx="2926080" cy="777240"/>
          </a:xfrm>
          <a:prstGeom prst="rect">
            <a:avLst/>
          </a:prstGeom>
          <a:noFill/>
        </p:spPr>
        <p:txBody>
          <a:bodyPr wrap="square">
            <a:spAutoFit/>
          </a:bodyPr>
          <a:lstStyle/>
          <a:p>
            <a:pPr>
              <a:defRPr sz="1350" b="1">
                <a:solidFill>
                  <a:srgbClr val="3B82F6"/>
                </a:solidFill>
              </a:defRPr>
            </a:pPr>
            <a:r>
              <a:t>B2B: Merchant Protection</a:t>
            </a:r>
          </a:p>
          <a:p>
            <a:pPr>
              <a:defRPr sz="1100">
                <a:solidFill>
                  <a:srgbClr val="FFFFFF"/>
                </a:solidFill>
              </a:defRPr>
            </a:pPr>
            <a:r>
              <a:t>Retail Merchant Subscriptions</a:t>
            </a:r>
          </a:p>
        </p:txBody>
      </p:sp>
      <p:sp>
        <p:nvSpPr>
          <p:cNvPr id="11" name="TextBox 10"/>
          <p:cNvSpPr txBox="1"/>
          <p:nvPr/>
        </p:nvSpPr>
        <p:spPr>
          <a:xfrm>
            <a:off x="4617720" y="2514600"/>
            <a:ext cx="2926080" cy="3383280"/>
          </a:xfrm>
          <a:prstGeom prst="rect">
            <a:avLst/>
          </a:prstGeom>
          <a:noFill/>
        </p:spPr>
        <p:txBody>
          <a:bodyPr wrap="square">
            <a:spAutoFit/>
          </a:bodyPr>
          <a:lstStyle/>
          <a:p>
            <a:pPr>
              <a:defRPr sz="1100">
                <a:solidFill>
                  <a:srgbClr val="94A3B8"/>
                </a:solidFill>
              </a:defRPr>
            </a:pPr>
            <a:r>
              <a:t>• Signed QR Certification: Monthly subscription for verified shopkeeper badges and tamper-proof counter stands.</a:t>
            </a:r>
          </a:p>
          <a:p>
            <a:pPr>
              <a:defRPr sz="1100">
                <a:solidFill>
                  <a:srgbClr val="94A3B8"/>
                </a:solidFill>
              </a:defRPr>
            </a:pPr>
            <a:r>
              <a:t>• POS Screenshot Verifier: Instant audio chime and visual screen verification to protect shopkeepers from fake receipts.</a:t>
            </a:r>
          </a:p>
        </p:txBody>
      </p:sp>
      <p:sp>
        <p:nvSpPr>
          <p:cNvPr id="12" name="Rounded Rectangle 11"/>
          <p:cNvSpPr/>
          <p:nvPr/>
        </p:nvSpPr>
        <p:spPr>
          <a:xfrm>
            <a:off x="8046720" y="1417320"/>
            <a:ext cx="3383280" cy="480060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600200"/>
            <a:ext cx="2926080" cy="777240"/>
          </a:xfrm>
          <a:prstGeom prst="rect">
            <a:avLst/>
          </a:prstGeom>
          <a:noFill/>
        </p:spPr>
        <p:txBody>
          <a:bodyPr wrap="square">
            <a:spAutoFit/>
          </a:bodyPr>
          <a:lstStyle/>
          <a:p>
            <a:pPr>
              <a:defRPr sz="1350" b="1">
                <a:solidFill>
                  <a:srgbClr val="38BDF8"/>
                </a:solidFill>
              </a:defRPr>
            </a:pPr>
            <a:r>
              <a:t>B2B2C / API: FinTech SDK</a:t>
            </a:r>
          </a:p>
          <a:p>
            <a:pPr>
              <a:defRPr sz="1100">
                <a:solidFill>
                  <a:srgbClr val="FFFFFF"/>
                </a:solidFill>
              </a:defRPr>
            </a:pPr>
            <a:r>
              <a:t>Enterprise Risk-as-a-Service</a:t>
            </a:r>
          </a:p>
        </p:txBody>
      </p:sp>
      <p:sp>
        <p:nvSpPr>
          <p:cNvPr id="14" name="TextBox 13"/>
          <p:cNvSpPr txBox="1"/>
          <p:nvPr/>
        </p:nvSpPr>
        <p:spPr>
          <a:xfrm>
            <a:off x="8275320" y="2514600"/>
            <a:ext cx="2926080" cy="3383280"/>
          </a:xfrm>
          <a:prstGeom prst="rect">
            <a:avLst/>
          </a:prstGeom>
          <a:noFill/>
        </p:spPr>
        <p:txBody>
          <a:bodyPr wrap="square">
            <a:spAutoFit/>
          </a:bodyPr>
          <a:lstStyle/>
          <a:p>
            <a:pPr>
              <a:defRPr sz="1100">
                <a:solidFill>
                  <a:srgbClr val="94A3B8"/>
                </a:solidFill>
              </a:defRPr>
            </a:pPr>
            <a:r>
              <a:t>• Pre-Auth Risk API: Microservice API licensing for neo-banks, payment aggregators, and digital wallets.</a:t>
            </a:r>
          </a:p>
          <a:p>
            <a:pPr>
              <a:defRPr sz="1100">
                <a:solidFill>
                  <a:srgbClr val="94A3B8"/>
                </a:solidFill>
              </a:defRPr>
            </a:pPr>
            <a:r>
              <a:t>• Fraud Intelligence Feeds: Shared scammer VPA blacklist telemetry for financial institutions.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9_bg.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1097280" y="868680"/>
            <a:ext cx="9966960" cy="5120640"/>
          </a:xfrm>
          <a:prstGeom prst="roundRect">
            <a:avLst/>
          </a:prstGeom>
          <a:solidFill>
            <a:srgbClr val="0F172A"/>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206240" y="1234440"/>
            <a:ext cx="3749039" cy="384048"/>
          </a:xfrm>
          <a:prstGeom prst="roundRect">
            <a:avLst/>
          </a:prstGeom>
          <a:solidFill>
            <a:srgbClr val="0F172A"/>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38BDF8"/>
                </a:solidFill>
              </a:defRPr>
            </a:pPr>
            <a:r>
              <a:t>THE SURAKSHA AI VISION</a:t>
            </a:r>
          </a:p>
        </p:txBody>
      </p:sp>
      <p:sp>
        <p:nvSpPr>
          <p:cNvPr id="5" name="TextBox 4"/>
          <p:cNvSpPr txBox="1"/>
          <p:nvPr/>
        </p:nvSpPr>
        <p:spPr>
          <a:xfrm>
            <a:off x="1463040" y="1828800"/>
            <a:ext cx="9235440" cy="1920240"/>
          </a:xfrm>
          <a:prstGeom prst="rect">
            <a:avLst/>
          </a:prstGeom>
          <a:noFill/>
        </p:spPr>
        <p:txBody>
          <a:bodyPr wrap="square">
            <a:spAutoFit/>
          </a:bodyPr>
          <a:lstStyle/>
          <a:p>
            <a:pPr algn="ctr">
              <a:defRPr sz="2800" b="1">
                <a:solidFill>
                  <a:srgbClr val="FFFFFF"/>
                </a:solidFill>
              </a:defRPr>
            </a:pPr>
            <a:r>
              <a:t>DON'T DISCOVER THE SCAM AFTER YOU PAY.</a:t>
            </a:r>
            <a:br/>
            <a:r>
              <a:t>DISCOVER THE RISK BEFORE YOU PAY.</a:t>
            </a:r>
          </a:p>
          <a:p>
            <a:pPr algn="ctr">
              <a:defRPr sz="1600">
                <a:solidFill>
                  <a:srgbClr val="38BDF8"/>
                </a:solidFill>
              </a:defRPr>
            </a:pPr>
            <a:r>
              <a:t>SURAKSHA AI — Making every digital payment an informed payment.</a:t>
            </a:r>
          </a:p>
        </p:txBody>
      </p:sp>
      <p:sp>
        <p:nvSpPr>
          <p:cNvPr id="6" name="Rounded Rectangle 5"/>
          <p:cNvSpPr/>
          <p:nvPr/>
        </p:nvSpPr>
        <p:spPr>
          <a:xfrm>
            <a:off x="1463040" y="4069080"/>
            <a:ext cx="2926080" cy="1371600"/>
          </a:xfrm>
          <a:prstGeom prst="roundRect">
            <a:avLst/>
          </a:prstGeom>
          <a:solidFill>
            <a:srgbClr val="0F172A"/>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0B981"/>
                </a:solidFill>
              </a:defRPr>
            </a:pPr>
            <a:r>
              <a:t>STAGE 1: PROTOTYPE</a:t>
            </a:r>
          </a:p>
          <a:p>
            <a:pPr>
              <a:defRPr sz="1000">
                <a:solidFill>
                  <a:srgbClr val="94A3B8"/>
                </a:solidFill>
              </a:defRPr>
            </a:pPr>
            <a:r>
              <a:t>Working PWA, Flask microservice &amp; OpenCV ELA engine validated across attack vectors.</a:t>
            </a:r>
          </a:p>
        </p:txBody>
      </p:sp>
      <p:sp>
        <p:nvSpPr>
          <p:cNvPr id="7" name="Rounded Rectangle 6"/>
          <p:cNvSpPr/>
          <p:nvPr/>
        </p:nvSpPr>
        <p:spPr>
          <a:xfrm>
            <a:off x="4617720" y="4069080"/>
            <a:ext cx="2926080" cy="1371600"/>
          </a:xfrm>
          <a:prstGeom prst="roundRect">
            <a:avLst/>
          </a:prstGeom>
          <a:solidFill>
            <a:srgbClr val="0F172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B82F6"/>
                </a:solidFill>
              </a:defRPr>
            </a:pPr>
            <a:r>
              <a:t>STAGE 2: VALIDATION</a:t>
            </a:r>
          </a:p>
          <a:p>
            <a:pPr>
              <a:defRPr sz="1000">
                <a:solidFill>
                  <a:srgbClr val="94A3B8"/>
                </a:solidFill>
              </a:defRPr>
            </a:pPr>
            <a:r>
              <a:t>Pilot trials with local retail shopkeepers in Tier-2/3 market corridors.</a:t>
            </a:r>
          </a:p>
        </p:txBody>
      </p:sp>
      <p:sp>
        <p:nvSpPr>
          <p:cNvPr id="8" name="Rounded Rectangle 7"/>
          <p:cNvSpPr/>
          <p:nvPr/>
        </p:nvSpPr>
        <p:spPr>
          <a:xfrm>
            <a:off x="7772400" y="4069080"/>
            <a:ext cx="2926080" cy="1371600"/>
          </a:xfrm>
          <a:prstGeom prst="roundRect">
            <a:avLst/>
          </a:prstGeom>
          <a:solidFill>
            <a:srgbClr val="0F172A"/>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8BDF8"/>
                </a:solidFill>
              </a:defRPr>
            </a:pPr>
            <a:r>
              <a:t>STAGE 3: SCALE</a:t>
            </a:r>
          </a:p>
          <a:p>
            <a:pPr>
              <a:defRPr sz="1000">
                <a:solidFill>
                  <a:srgbClr val="94A3B8"/>
                </a:solidFill>
              </a:defRPr>
            </a:pPr>
            <a:r>
              <a:t>FinTech API licensing &amp; multi-bank threat intelligence sharing.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